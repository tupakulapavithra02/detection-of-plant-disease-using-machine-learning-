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45"/>
  </p:notesMasterIdLst>
  <p:sldIdLst>
    <p:sldId id="256" r:id="rId2"/>
    <p:sldId id="357" r:id="rId3"/>
    <p:sldId id="258" r:id="rId4"/>
    <p:sldId id="358" r:id="rId5"/>
    <p:sldId id="359" r:id="rId6"/>
    <p:sldId id="361" r:id="rId7"/>
    <p:sldId id="360" r:id="rId8"/>
    <p:sldId id="259" r:id="rId9"/>
    <p:sldId id="270" r:id="rId10"/>
    <p:sldId id="260" r:id="rId11"/>
    <p:sldId id="261" r:id="rId12"/>
    <p:sldId id="262" r:id="rId13"/>
    <p:sldId id="273" r:id="rId14"/>
    <p:sldId id="264" r:id="rId15"/>
    <p:sldId id="296" r:id="rId16"/>
    <p:sldId id="266" r:id="rId17"/>
    <p:sldId id="287" r:id="rId18"/>
    <p:sldId id="304" r:id="rId19"/>
    <p:sldId id="305" r:id="rId20"/>
    <p:sldId id="307" r:id="rId21"/>
    <p:sldId id="297" r:id="rId22"/>
    <p:sldId id="362" r:id="rId23"/>
    <p:sldId id="363" r:id="rId24"/>
    <p:sldId id="308" r:id="rId25"/>
    <p:sldId id="309" r:id="rId26"/>
    <p:sldId id="310" r:id="rId27"/>
    <p:sldId id="364" r:id="rId28"/>
    <p:sldId id="311" r:id="rId29"/>
    <p:sldId id="312" r:id="rId30"/>
    <p:sldId id="313" r:id="rId31"/>
    <p:sldId id="314" r:id="rId32"/>
    <p:sldId id="315" r:id="rId33"/>
    <p:sldId id="316" r:id="rId34"/>
    <p:sldId id="317" r:id="rId35"/>
    <p:sldId id="365" r:id="rId36"/>
    <p:sldId id="318" r:id="rId37"/>
    <p:sldId id="319" r:id="rId38"/>
    <p:sldId id="320" r:id="rId39"/>
    <p:sldId id="321" r:id="rId40"/>
    <p:sldId id="366" r:id="rId41"/>
    <p:sldId id="322" r:id="rId42"/>
    <p:sldId id="323" r:id="rId43"/>
    <p:sldId id="26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88" autoAdjust="0"/>
    <p:restoredTop sz="94660"/>
  </p:normalViewPr>
  <p:slideViewPr>
    <p:cSldViewPr snapToGrid="0">
      <p:cViewPr varScale="1">
        <p:scale>
          <a:sx n="64" d="100"/>
          <a:sy n="64" d="100"/>
        </p:scale>
        <p:origin x="5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761A6-0282-41F1-8EE8-C5EC6B02B98F}" type="datetimeFigureOut">
              <a:rPr lang="en-US" smtClean="0"/>
              <a:t>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2F4040-C638-47DD-81D0-1FC90473B69B}" type="slidenum">
              <a:rPr lang="en-US" smtClean="0"/>
              <a:t>‹#›</a:t>
            </a:fld>
            <a:endParaRPr lang="en-US"/>
          </a:p>
        </p:txBody>
      </p:sp>
    </p:spTree>
    <p:extLst>
      <p:ext uri="{BB962C8B-B14F-4D97-AF65-F5344CB8AC3E}">
        <p14:creationId xmlns:p14="http://schemas.microsoft.com/office/powerpoint/2010/main" val="992561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2F4040-C638-47DD-81D0-1FC90473B69B}" type="slidenum">
              <a:rPr lang="en-US" smtClean="0"/>
              <a:t>11</a:t>
            </a:fld>
            <a:endParaRPr lang="en-US"/>
          </a:p>
        </p:txBody>
      </p:sp>
    </p:spTree>
    <p:extLst>
      <p:ext uri="{BB962C8B-B14F-4D97-AF65-F5344CB8AC3E}">
        <p14:creationId xmlns:p14="http://schemas.microsoft.com/office/powerpoint/2010/main" val="658490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812040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47246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190982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69B1F-AF70-46E9-9B6A-AAED6CD8AA21}" type="datetimeFigureOut">
              <a:rPr lang="en-US" smtClean="0"/>
              <a:t>2/3/2024</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986494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69B1F-AF70-46E9-9B6A-AAED6CD8AA21}" type="datetimeFigureOut">
              <a:rPr lang="en-US" smtClean="0"/>
              <a:t>2/3/2024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631914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69B1F-AF70-46E9-9B6A-AAED6CD8AA21}" type="datetimeFigureOut">
              <a:rPr lang="en-US" smtClean="0"/>
              <a:t>2/3/2024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348462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69B1F-AF70-46E9-9B6A-AAED6CD8AA21}" type="datetimeFigureOut">
              <a:rPr lang="en-US" smtClean="0"/>
              <a:t>2/3/2024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822277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2004702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073442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124714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8970E17-90EC-457A-8FF7-F9657C4FD57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85056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790605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2/3/2024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19636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469B1F-AF70-46E9-9B6A-AAED6CD8AA21}" type="datetimeFigureOut">
              <a:rPr lang="en-US" smtClean="0"/>
              <a:t>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3350873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977264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69B1F-AF70-46E9-9B6A-AAED6CD8AA21}" type="datetimeFigureOut">
              <a:rPr lang="en-US" smtClean="0"/>
              <a:t>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8970E17-90EC-457A-8FF7-F9657C4FD578}" type="slidenum">
              <a:rPr lang="en-US" smtClean="0"/>
              <a:t>‹#›</a:t>
            </a:fld>
            <a:endParaRPr lang="en-US"/>
          </a:p>
        </p:txBody>
      </p:sp>
    </p:spTree>
    <p:extLst>
      <p:ext uri="{BB962C8B-B14F-4D97-AF65-F5344CB8AC3E}">
        <p14:creationId xmlns:p14="http://schemas.microsoft.com/office/powerpoint/2010/main" val="1458664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2469B1F-AF70-46E9-9B6A-AAED6CD8AA21}" type="datetimeFigureOut">
              <a:rPr lang="en-US" smtClean="0"/>
              <a:t>2/3/2024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8970E17-90EC-457A-8FF7-F9657C4FD578}" type="slidenum">
              <a:rPr lang="en-US" smtClean="0"/>
              <a:t>‹#›</a:t>
            </a:fld>
            <a:endParaRPr lang="en-US"/>
          </a:p>
        </p:txBody>
      </p:sp>
    </p:spTree>
    <p:extLst>
      <p:ext uri="{BB962C8B-B14F-4D97-AF65-F5344CB8AC3E}">
        <p14:creationId xmlns:p14="http://schemas.microsoft.com/office/powerpoint/2010/main" val="21102021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4"/>
          <p:cNvSpPr>
            <a:spLocks noChangeArrowheads="1"/>
          </p:cNvSpPr>
          <p:nvPr/>
        </p:nvSpPr>
        <p:spPr bwMode="auto">
          <a:xfrm>
            <a:off x="2752733" y="1905000"/>
            <a:ext cx="8001000" cy="1752600"/>
          </a:xfrm>
          <a:prstGeom prst="roundRect">
            <a:avLst>
              <a:gd name="adj" fmla="val 16667"/>
            </a:avLst>
          </a:prstGeom>
          <a:noFill/>
          <a:ln>
            <a:noFill/>
          </a:ln>
          <a:effectLst/>
        </p:spPr>
        <p:txBody>
          <a:bodyPr wrap="none" anchor="ctr"/>
          <a:lstStyle/>
          <a:p>
            <a:pPr eaLnBrk="1" hangingPunct="1">
              <a:buClr>
                <a:srgbClr val="000000"/>
              </a:buClr>
              <a:buSzPct val="100000"/>
              <a:buFont typeface="Times New Roman" panose="02020603050405020304" pitchFamily="18" charset="0"/>
              <a:buNone/>
            </a:pPr>
            <a:endParaRPr lang="en-IN" altLang="en-US"/>
          </a:p>
        </p:txBody>
      </p:sp>
      <p:sp>
        <p:nvSpPr>
          <p:cNvPr id="17" name="Text Box 5"/>
          <p:cNvSpPr txBox="1">
            <a:spLocks noChangeArrowheads="1"/>
          </p:cNvSpPr>
          <p:nvPr/>
        </p:nvSpPr>
        <p:spPr bwMode="auto">
          <a:xfrm>
            <a:off x="2236331" y="3014128"/>
            <a:ext cx="8001000" cy="1831975"/>
          </a:xfrm>
          <a:prstGeom prst="rect">
            <a:avLst/>
          </a:prstGeom>
          <a:noFill/>
          <a:ln w="9525">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US" sz="2400" b="1" dirty="0">
                <a:solidFill>
                  <a:schemeClr val="accent2">
                    <a:lumMod val="75000"/>
                  </a:schemeClr>
                </a:solidFill>
                <a:latin typeface="Times New Roman" panose="02020603050405020304" pitchFamily="18" charset="0"/>
                <a:cs typeface="Times New Roman" panose="02020603050405020304" pitchFamily="18" charset="0"/>
              </a:rPr>
              <a:t>DETECTION OF PLANT DISEASE USING MACHINE LEARNING AND DEEP LEARNING ALGORITHMS</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9" name="Rounded Rectangle 1"/>
          <p:cNvSpPr>
            <a:spLocks noChangeArrowheads="1"/>
          </p:cNvSpPr>
          <p:nvPr/>
        </p:nvSpPr>
        <p:spPr bwMode="auto">
          <a:xfrm>
            <a:off x="1414470" y="92075"/>
            <a:ext cx="6786555" cy="1005205"/>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Domain: DL</a:t>
            </a:r>
          </a:p>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Technology: Python</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3733" y="54610"/>
            <a:ext cx="1400175" cy="465455"/>
          </a:xfrm>
          <a:prstGeom prst="rect">
            <a:avLst/>
          </a:prstGeom>
        </p:spPr>
      </p:pic>
    </p:spTree>
    <p:extLst>
      <p:ext uri="{BB962C8B-B14F-4D97-AF65-F5344CB8AC3E}">
        <p14:creationId xmlns:p14="http://schemas.microsoft.com/office/powerpoint/2010/main" val="1144472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416062" y="402597"/>
            <a:ext cx="1209821" cy="352686"/>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a:t>
            </a:r>
            <a:r>
              <a:rPr lang="en-US" sz="9600" b="1" dirty="0">
                <a:solidFill>
                  <a:schemeClr val="accent6"/>
                </a:solidFill>
                <a:latin typeface="Times New Roman" panose="02020603050405020304" pitchFamily="18" charset="0"/>
                <a:cs typeface="Times New Roman" panose="02020603050405020304" pitchFamily="18" charset="0"/>
              </a:rPr>
              <a:t>INDEX</a:t>
            </a:r>
            <a:endParaRPr lang="en-US"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txBox="1"/>
          <p:nvPr/>
        </p:nvSpPr>
        <p:spPr>
          <a:xfrm>
            <a:off x="1409075" y="1085895"/>
            <a:ext cx="4006987" cy="5602193"/>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p>
        </p:txBody>
      </p:sp>
      <p:sp>
        <p:nvSpPr>
          <p:cNvPr id="4" name="Content Placeholder 2"/>
          <p:cNvSpPr txBox="1"/>
          <p:nvPr/>
        </p:nvSpPr>
        <p:spPr>
          <a:xfrm>
            <a:off x="6096000" y="1085895"/>
            <a:ext cx="5485396" cy="39957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Methodology/algorithm</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UMLS</a:t>
            </a:r>
          </a:p>
          <a:p>
            <a:pPr lvl="2"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v"/>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7396" y="830483"/>
            <a:ext cx="2377208" cy="593327"/>
          </a:xfrm>
        </p:spPr>
        <p:txBody>
          <a:bodyPr>
            <a:normAutofit/>
          </a:bodyPr>
          <a:lstStyle/>
          <a:p>
            <a:pPr algn="ctr"/>
            <a:r>
              <a:rPr lang="en-US" sz="2400" b="1"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43039" y="1573247"/>
            <a:ext cx="10849970" cy="4332878"/>
          </a:xfrm>
        </p:spPr>
        <p:txBody>
          <a:bodyPr>
            <a:normAutofit fontScale="92500" lnSpcReduction="20000"/>
          </a:bodyPr>
          <a:lstStyle/>
          <a:p>
            <a:pPr marL="0" indent="0" algn="just">
              <a:lnSpc>
                <a:spcPct val="150000"/>
              </a:lnSpc>
              <a:buNone/>
            </a:pPr>
            <a:r>
              <a:rPr lang="en-US" sz="1900" dirty="0">
                <a:solidFill>
                  <a:schemeClr val="tx1"/>
                </a:solidFill>
                <a:latin typeface="Times New Roman" panose="02020603050405020304" pitchFamily="18" charset="0"/>
                <a:cs typeface="Times New Roman" panose="02020603050405020304" pitchFamily="18" charset="0"/>
              </a:rPr>
              <a:t>Agriculture plays a crucial role in the Indian economy. Early detection of plant diseases is very much essential to prevent crop loss and further spread of diseases. Most plants such as apple, tomato, cherry, grapes show visible symptoms of the disease on the leaf. These visible patterns can be identified to correctly predict the disease and take early actions to prevent it. This can be overcome by the use of machine learning and deep learning algorithms. Hence, we are proposing a method that which is detecting the disease of a tomato plant from their leaf images. Here the process is performed with the Support Vector Machine (SVM), Random Forest algorithms of machine learning along with deep learning algorithms Convolutional Neural Network (CNN), Recurrent Neural Network (RNN) and ResNet, which is a one of the transfer learning method of CNN. Once after training the dataset with the algorithms, the accuracy of algorithms is compared and the images are classified. And the precautions are also provided for the classified plant.</a:t>
            </a:r>
          </a:p>
          <a:p>
            <a:pPr marL="0" indent="0" algn="just">
              <a:lnSpc>
                <a:spcPct val="150000"/>
              </a:lnSpc>
              <a:buNone/>
            </a:pPr>
            <a:r>
              <a:rPr lang="en-US" sz="1900" b="1" dirty="0">
                <a:solidFill>
                  <a:schemeClr val="tx1"/>
                </a:solidFill>
                <a:latin typeface="Times New Roman" panose="02020603050405020304" pitchFamily="18" charset="0"/>
                <a:cs typeface="Times New Roman" panose="02020603050405020304" pitchFamily="18" charset="0"/>
              </a:rPr>
              <a:t>Keywords: </a:t>
            </a:r>
            <a:r>
              <a:rPr lang="en-US" sz="1900" dirty="0">
                <a:solidFill>
                  <a:schemeClr val="tx1"/>
                </a:solidFill>
                <a:latin typeface="Times New Roman" panose="02020603050405020304" pitchFamily="18" charset="0"/>
                <a:cs typeface="Times New Roman" panose="02020603050405020304" pitchFamily="18" charset="0"/>
              </a:rPr>
              <a:t>Plant diseases, machine learning, deep learning, CNN, MobileNet, ResNet, SVM.</a:t>
            </a:r>
          </a:p>
          <a:p>
            <a:pPr marL="0" indent="0" algn="just">
              <a:lnSpc>
                <a:spcPct val="150000"/>
              </a:lnSpc>
              <a:buNone/>
            </a:pPr>
            <a:endParaRPr lang="en-US" sz="1700"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672549" y="102709"/>
            <a:ext cx="1405221" cy="593327"/>
          </a:xfrm>
          <a:prstGeom prst="rect">
            <a:avLst/>
          </a:prstGeom>
        </p:spPr>
      </p:pic>
    </p:spTree>
    <p:extLst>
      <p:ext uri="{BB962C8B-B14F-4D97-AF65-F5344CB8AC3E}">
        <p14:creationId xmlns:p14="http://schemas.microsoft.com/office/powerpoint/2010/main" val="3101661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164F58-1584-B1CB-0DEC-14593E19513F}"/>
              </a:ext>
            </a:extLst>
          </p:cNvPr>
          <p:cNvSpPr txBox="1"/>
          <p:nvPr/>
        </p:nvSpPr>
        <p:spPr>
          <a:xfrm>
            <a:off x="1321632" y="1657891"/>
            <a:ext cx="9548735" cy="3782061"/>
          </a:xfrm>
          <a:prstGeom prst="rect">
            <a:avLst/>
          </a:prstGeom>
          <a:noFill/>
        </p:spPr>
        <p:txBody>
          <a:bodyPr wrap="square">
            <a:spAutoFit/>
          </a:bodyPr>
          <a:lstStyle/>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power of machine learning and deep learning algorithms promises to revolutionize agriculture by enabling early and accurate disease identification, leading to timely intervention, reduced crop losses, and sustainable agricultural practices. This research aims to contribute to a more resilient and food-secure future.</a:t>
            </a:r>
            <a:endParaRPr lang="en-IN" sz="1800" dirty="0">
              <a:solidFill>
                <a:srgbClr val="000000"/>
              </a:solidFill>
              <a:effectLst/>
              <a:latin typeface="Times New Roman" panose="02020603050405020304" pitchFamily="18" charset="0"/>
              <a:ea typeface="Calibri" panose="020F0502020204030204" pitchFamily="34" charset="0"/>
            </a:endParaRPr>
          </a:p>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Control of plant diseases is crucial to the reliable production of food, and it provides significant problems in agricultural use of land, water, fuel and other inputs. Plants in both natural and cultivated populations carry inherent disease resistance, but there are numerous examples of devastating plant disease impacts, such as the Great Famine of Ireland and chestnut blight, as well as recurrent severe plant diseases like rice blast, soybean cyst nematode, and citrus canker.</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E1780D96-7DD7-5C5C-0A15-7A1F997AFD4B}"/>
              </a:ext>
            </a:extLst>
          </p:cNvPr>
          <p:cNvSpPr txBox="1"/>
          <p:nvPr/>
        </p:nvSpPr>
        <p:spPr>
          <a:xfrm>
            <a:off x="3646358" y="700353"/>
            <a:ext cx="4733144" cy="579967"/>
          </a:xfrm>
          <a:prstGeom prst="rect">
            <a:avLst/>
          </a:prstGeom>
          <a:noFill/>
        </p:spPr>
        <p:txBody>
          <a:bodyPr wrap="square">
            <a:spAutoFit/>
          </a:bodyPr>
          <a:lstStyle/>
          <a:p>
            <a:pPr>
              <a:lnSpc>
                <a:spcPct val="150000"/>
              </a:lnSpc>
            </a:pPr>
            <a:r>
              <a:rPr lang="en-US" sz="2400" b="1" dirty="0">
                <a:solidFill>
                  <a:schemeClr val="accent2">
                    <a:lumMod val="75000"/>
                  </a:schemeClr>
                </a:solidFill>
                <a:effectLst/>
                <a:latin typeface="Times New Roman" panose="02020603050405020304" pitchFamily="18" charset="0"/>
                <a:ea typeface="Calibri" panose="020F0502020204030204" pitchFamily="34" charset="0"/>
              </a:rPr>
              <a:t>OBJECTIVE OF THE PROJECT</a:t>
            </a:r>
            <a:endParaRPr lang="en-IN" sz="2400" dirty="0">
              <a:solidFill>
                <a:schemeClr val="accent2">
                  <a:lumMod val="75000"/>
                </a:schemeClr>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3878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388FA-4CE6-5D9F-1989-A07B0BC2AE47}"/>
              </a:ext>
            </a:extLst>
          </p:cNvPr>
          <p:cNvSpPr txBox="1"/>
          <p:nvPr/>
        </p:nvSpPr>
        <p:spPr>
          <a:xfrm>
            <a:off x="1516505" y="2040618"/>
            <a:ext cx="9158990" cy="3366563"/>
          </a:xfrm>
          <a:prstGeom prst="rect">
            <a:avLst/>
          </a:prstGeom>
          <a:noFill/>
        </p:spPr>
        <p:txBody>
          <a:bodyPr wrap="square">
            <a:spAutoFit/>
          </a:bodyPr>
          <a:lstStyle/>
          <a:p>
            <a:pPr algn="just">
              <a:lnSpc>
                <a:spcPct val="150000"/>
              </a:lnSpc>
            </a:pPr>
            <a:r>
              <a:rPr lang="en-US" sz="1800">
                <a:solidFill>
                  <a:srgbClr val="000000"/>
                </a:solidFill>
                <a:effectLst/>
                <a:latin typeface="Times New Roman" panose="02020603050405020304" pitchFamily="18" charset="0"/>
                <a:ea typeface="Calibri" panose="020F0502020204030204" pitchFamily="34" charset="0"/>
              </a:rPr>
              <a:t>Plant diseases pose a substantial threat to global agriculture, resulting in significant crop damage and economic losses. Traditional methods of disease detection are often time-consuming and require expertise, making early intervention difficult. This research addresses the need for an automated, reliable, and efficient plant disease detection system using machine learning and deep learning algorithms. The primary challenge is to develop a model capable of accurately identifying diseases from images of plant leaves, thereby enabling timely interventions to mitigate crop.</a:t>
            </a:r>
            <a:endParaRPr lang="en-IN" sz="1800">
              <a:solidFill>
                <a:srgbClr val="000000"/>
              </a:solidFill>
              <a:effectLst/>
              <a:latin typeface="Times New Roman" panose="02020603050405020304" pitchFamily="18" charset="0"/>
              <a:ea typeface="Calibri" panose="020F0502020204030204" pitchFamily="34" charset="0"/>
            </a:endParaRPr>
          </a:p>
          <a:p>
            <a:pPr>
              <a:lnSpc>
                <a:spcPct val="150000"/>
              </a:lnSpc>
            </a:pPr>
            <a:r>
              <a:rPr lang="en-US" sz="1800" b="1">
                <a:solidFill>
                  <a:srgbClr val="000000"/>
                </a:solidFill>
                <a:effectLst/>
                <a:latin typeface="Times New Roman" panose="02020603050405020304" pitchFamily="18" charset="0"/>
                <a:ea typeface="Calibri" panose="020F0502020204030204" pitchFamily="34" charset="0"/>
              </a:rPr>
              <a:t> </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5" name="TextBox 4">
            <a:extLst>
              <a:ext uri="{FF2B5EF4-FFF2-40B4-BE49-F238E27FC236}">
                <a16:creationId xmlns:a16="http://schemas.microsoft.com/office/drawing/2014/main" id="{9BF5060D-D4E2-71E1-CD38-C828FB8CCBE6}"/>
              </a:ext>
            </a:extLst>
          </p:cNvPr>
          <p:cNvSpPr txBox="1"/>
          <p:nvPr/>
        </p:nvSpPr>
        <p:spPr>
          <a:xfrm>
            <a:off x="4006121" y="1219986"/>
            <a:ext cx="3758783"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88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E908B9-2D48-1C10-7569-F2FEF67419E0}"/>
              </a:ext>
            </a:extLst>
          </p:cNvPr>
          <p:cNvSpPr txBox="1"/>
          <p:nvPr/>
        </p:nvSpPr>
        <p:spPr>
          <a:xfrm>
            <a:off x="4257207" y="449705"/>
            <a:ext cx="4407108" cy="461665"/>
          </a:xfrm>
          <a:prstGeom prst="rect">
            <a:avLst/>
          </a:prstGeom>
          <a:noFill/>
        </p:spPr>
        <p:txBody>
          <a:bodyPr wrap="square" rtlCol="0">
            <a:spAutoFit/>
          </a:bodyPr>
          <a:lstStyle/>
          <a:p>
            <a:r>
              <a:rPr lang="en-US" sz="2400" b="1" dirty="0">
                <a:solidFill>
                  <a:schemeClr val="accent2">
                    <a:lumMod val="75000"/>
                  </a:schemeClr>
                </a:solidFill>
                <a:latin typeface="Times New Roman" panose="02020603050405020304" pitchFamily="18" charset="0"/>
                <a:cs typeface="Times New Roman" panose="02020603050405020304" pitchFamily="18" charset="0"/>
              </a:rPr>
              <a:t>SCOPE AND MOTIVATION</a:t>
            </a: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204690-8107-AC5F-B0B5-70B487741522}"/>
              </a:ext>
            </a:extLst>
          </p:cNvPr>
          <p:cNvSpPr txBox="1"/>
          <p:nvPr/>
        </p:nvSpPr>
        <p:spPr>
          <a:xfrm>
            <a:off x="1633928" y="2368966"/>
            <a:ext cx="8544393" cy="1704569"/>
          </a:xfrm>
          <a:prstGeom prst="rect">
            <a:avLst/>
          </a:prstGeom>
          <a:noFill/>
        </p:spPr>
        <p:txBody>
          <a:bodyPr wrap="square">
            <a:spAutoFit/>
          </a:bodyPr>
          <a:lstStyle/>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The project aims to develop a system for the early detection of plant diseases using machine learning and deep learning algorithms. It involves image analysis of plant leaves to identify disease symptoms, providing a cost-effective and efficient way to monitor and manage crop health, ultimately enhancing agricultural productivity and food security.</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0D1A1C45-CA7E-53A9-E548-313496CA1BDA}"/>
              </a:ext>
            </a:extLst>
          </p:cNvPr>
          <p:cNvSpPr txBox="1"/>
          <p:nvPr/>
        </p:nvSpPr>
        <p:spPr>
          <a:xfrm>
            <a:off x="5091034" y="1622488"/>
            <a:ext cx="1255426"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SCOPE</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4275215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5835F6-C78F-773D-0B09-60AE9852CA7B}"/>
              </a:ext>
            </a:extLst>
          </p:cNvPr>
          <p:cNvSpPr txBox="1"/>
          <p:nvPr/>
        </p:nvSpPr>
        <p:spPr>
          <a:xfrm>
            <a:off x="1551480" y="2240952"/>
            <a:ext cx="9089037" cy="2166234"/>
          </a:xfrm>
          <a:prstGeom prst="rect">
            <a:avLst/>
          </a:prstGeom>
          <a:noFill/>
        </p:spPr>
        <p:txBody>
          <a:bodyPr wrap="square">
            <a:spAutoFit/>
          </a:bodyPr>
          <a:lstStyle/>
          <a:p>
            <a:pPr algn="just">
              <a:lnSpc>
                <a:spcPct val="150000"/>
              </a:lnSpc>
            </a:pPr>
            <a:r>
              <a:rPr lang="en-US" sz="1800" dirty="0">
                <a:solidFill>
                  <a:srgbClr val="000000"/>
                </a:solidFill>
                <a:effectLst/>
                <a:latin typeface="Times New Roman" panose="02020603050405020304" pitchFamily="18" charset="0"/>
                <a:ea typeface="Calibri" panose="020F0502020204030204" pitchFamily="34" charset="0"/>
              </a:rPr>
              <a:t>The motivation behind the research on "DETECTION OF PLANT DISEASE USING MACHINE LEARNING AND DEEP LEARNING ALGORITHMS" stems from the critical need to safeguard global food security. With the world's population continuously increasing, ensuring healthy crop yields is paramount. Traditional methods of disease detection are often time-consuming and labor-intensive. Leveraging the</a:t>
            </a:r>
            <a:r>
              <a:rPr lang="en-US" sz="2000" b="1" dirty="0">
                <a:solidFill>
                  <a:srgbClr val="000000"/>
                </a:solidFill>
                <a:effectLst/>
                <a:latin typeface="Times New Roman" panose="02020603050405020304" pitchFamily="18" charset="0"/>
                <a:ea typeface="Calibri" panose="020F0502020204030204" pitchFamily="34" charset="0"/>
              </a:rPr>
              <a:t> </a:t>
            </a:r>
            <a:r>
              <a:rPr lang="en-US" sz="1800" dirty="0">
                <a:solidFill>
                  <a:srgbClr val="000000"/>
                </a:solidFill>
                <a:effectLst/>
                <a:latin typeface="Times New Roman" panose="02020603050405020304" pitchFamily="18" charset="0"/>
                <a:ea typeface="Calibri" panose="020F0502020204030204" pitchFamily="34" charset="0"/>
              </a:rPr>
              <a:t>losses and secure food supplies.</a:t>
            </a:r>
            <a:endParaRPr lang="en-IN" sz="1800" dirty="0">
              <a:solidFill>
                <a:srgbClr val="000000"/>
              </a:solidFill>
              <a:effectLst/>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A79D73A6-B21A-E299-3079-00A99883BEFF}"/>
              </a:ext>
            </a:extLst>
          </p:cNvPr>
          <p:cNvSpPr txBox="1"/>
          <p:nvPr/>
        </p:nvSpPr>
        <p:spPr>
          <a:xfrm>
            <a:off x="4909277" y="1387031"/>
            <a:ext cx="2373444"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MOTIVATION</a:t>
            </a:r>
            <a:endParaRPr lang="en-IN" sz="24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8722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449827"/>
            <a:ext cx="8911687" cy="1280890"/>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638300" y="983308"/>
            <a:ext cx="10139718" cy="5676799"/>
          </a:xfrm>
        </p:spPr>
        <p:txBody>
          <a:bodyPr>
            <a:noAutofit/>
          </a:bodyPr>
          <a:lstStyle/>
          <a:p>
            <a:pPr marL="0" indent="0" algn="just">
              <a:lnSpc>
                <a:spcPct val="160000"/>
              </a:lnSpc>
              <a:buNone/>
            </a:pPr>
            <a:r>
              <a:rPr lang="en-US" sz="1700" dirty="0">
                <a:solidFill>
                  <a:schemeClr val="tx1"/>
                </a:solidFill>
                <a:latin typeface="Times New Roman" panose="02020603050405020304" pitchFamily="18" charset="0"/>
                <a:ea typeface="Calibri" panose="020F0502020204030204" pitchFamily="34" charset="0"/>
              </a:rPr>
              <a:t>Control of plant diseases is crucial to the reliable production of food, and it provides significant problems in agricultural use of land, water, fuel and other inputs. Plants in both natural and cultivated populations carry inherent disease resistance, but there are numerous examples of devastating plant disease impacts, such as the Great Famine of Ireland and chestnut blight, as well as recurrent severe plant diseases like rice blast, soybean cyst nematode, and citrus canker.</a:t>
            </a:r>
          </a:p>
          <a:p>
            <a:pPr marL="0" indent="0" algn="just">
              <a:lnSpc>
                <a:spcPct val="160000"/>
              </a:lnSpc>
              <a:buNone/>
            </a:pPr>
            <a:r>
              <a:rPr lang="en-US" sz="1700" dirty="0">
                <a:solidFill>
                  <a:schemeClr val="tx1"/>
                </a:solidFill>
                <a:latin typeface="Times New Roman" panose="02020603050405020304" pitchFamily="18" charset="0"/>
                <a:ea typeface="Calibri" panose="020F0502020204030204" pitchFamily="34" charset="0"/>
              </a:rPr>
              <a:t>However, disease control is reasonably successful for most crops. Disease control is achieved by use of plants that have been bred for good resistance to many diseases, and by plant cultivation approaches such as crop rotation, use of pathogen-free seed, appropriate planting date and plant density, control of field moisture, and application of pesticides. Continuing advances in the science of plant pathology are needed to improve disease control, to keep up with the ongoing evolution and movement of plant pathogens, and to keep pace with changes in agricultural practices.</a:t>
            </a:r>
          </a:p>
          <a:p>
            <a:pPr marL="0" indent="0" algn="just">
              <a:lnSpc>
                <a:spcPct val="160000"/>
              </a:lnSpc>
              <a:buNone/>
            </a:pPr>
            <a:endParaRPr lang="en-US" sz="1700" dirty="0">
              <a:solidFill>
                <a:schemeClr val="tx1"/>
              </a:solidFill>
              <a:latin typeface="Times New Roman" panose="02020603050405020304" pitchFamily="18" charset="0"/>
              <a:ea typeface="Calibri" panose="020F0502020204030204"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549987" y="189850"/>
            <a:ext cx="1500489" cy="533481"/>
          </a:xfrm>
          <a:prstGeom prst="rect">
            <a:avLst/>
          </a:prstGeom>
        </p:spPr>
      </p:pic>
    </p:spTree>
    <p:extLst>
      <p:ext uri="{BB962C8B-B14F-4D97-AF65-F5344CB8AC3E}">
        <p14:creationId xmlns:p14="http://schemas.microsoft.com/office/powerpoint/2010/main" val="159329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E8DA03-C237-424A-B66E-ED2AD8F0FEDE}"/>
              </a:ext>
            </a:extLst>
          </p:cNvPr>
          <p:cNvSpPr>
            <a:spLocks noGrp="1"/>
          </p:cNvSpPr>
          <p:nvPr>
            <p:ph type="title"/>
          </p:nvPr>
        </p:nvSpPr>
        <p:spPr>
          <a:xfrm>
            <a:off x="1622171" y="293427"/>
            <a:ext cx="8912225" cy="1281112"/>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9" name="TextBox 8">
            <a:extLst>
              <a:ext uri="{FF2B5EF4-FFF2-40B4-BE49-F238E27FC236}">
                <a16:creationId xmlns:a16="http://schemas.microsoft.com/office/drawing/2014/main" id="{4DB50099-528F-464C-BB03-DA246C334E1E}"/>
              </a:ext>
            </a:extLst>
          </p:cNvPr>
          <p:cNvSpPr txBox="1"/>
          <p:nvPr/>
        </p:nvSpPr>
        <p:spPr>
          <a:xfrm>
            <a:off x="1431402" y="1149628"/>
            <a:ext cx="9293761" cy="5249258"/>
          </a:xfrm>
          <a:prstGeom prst="rect">
            <a:avLst/>
          </a:prstGeom>
          <a:noFill/>
        </p:spPr>
        <p:txBody>
          <a:bodyPr wrap="square">
            <a:spAutoFit/>
          </a:bodyPr>
          <a:lstStyle/>
          <a:p>
            <a:pPr algn="just">
              <a:lnSpc>
                <a:spcPct val="150000"/>
              </a:lnSpc>
              <a:spcAft>
                <a:spcPts val="800"/>
              </a:spcAft>
              <a:buSzPts val="1000"/>
              <a:tabLst>
                <a:tab pos="342900" algn="l"/>
              </a:tabLst>
            </a:pPr>
            <a:r>
              <a:rPr lang="en-US" sz="1700" dirty="0">
                <a:latin typeface="Times New Roman" panose="02020603050405020304" pitchFamily="18" charset="0"/>
                <a:cs typeface="Times New Roman" panose="02020603050405020304" pitchFamily="18" charset="0"/>
              </a:rPr>
              <a:t>Plant diseases cause major economic losses for farmer’s worldwide Economic impact. Across large regions and many crop species, it is estimated that diseases typically reduce plant yields by 10% every year in more developed settings, but yield loss to diseases often exceeds 20% in less developed settings. The Food and Agriculture Organization estimates that pests and diseases are responsible for about 25% of crop loss. To solve this, new methods are needed to detect diseases and pests early, such as novel sensors that detect plant odours and spectroscopy and biophotonics that are able to diagnose plant health and metabolism.</a:t>
            </a:r>
          </a:p>
          <a:p>
            <a:pPr algn="just">
              <a:lnSpc>
                <a:spcPct val="150000"/>
              </a:lnSpc>
              <a:spcAft>
                <a:spcPts val="800"/>
              </a:spcAft>
              <a:buSzPts val="1000"/>
              <a:tabLst>
                <a:tab pos="342900" algn="l"/>
              </a:tabLst>
            </a:pPr>
            <a:r>
              <a:rPr lang="en-US" sz="1700" dirty="0">
                <a:latin typeface="Times New Roman" panose="02020603050405020304" pitchFamily="18" charset="0"/>
                <a:cs typeface="Times New Roman" panose="02020603050405020304" pitchFamily="18" charset="0"/>
              </a:rPr>
              <a:t>In most pathosystems, virulence is dependent on hydrolases - and the wider class of cell wall degrading proteins - that degrade the cell wall. The vast majority of CWDPs are pathogen-produced and pectin-targeted (for example, pectinesterase, pectate lyase, and pectinases). For microbes the cell wall polysaccharides are themselves a food source, but mostly just a barrier to be overcome. Many pathogens also grow opportunistically when the host breaks down its own cell walls, most often during fruit ripening.</a:t>
            </a: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534396" y="0"/>
            <a:ext cx="1516079" cy="586854"/>
          </a:xfrm>
          <a:prstGeom prst="rect">
            <a:avLst/>
          </a:prstGeom>
        </p:spPr>
      </p:pic>
    </p:spTree>
    <p:extLst>
      <p:ext uri="{BB962C8B-B14F-4D97-AF65-F5344CB8AC3E}">
        <p14:creationId xmlns:p14="http://schemas.microsoft.com/office/powerpoint/2010/main" val="285244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866" y="245111"/>
            <a:ext cx="8802955" cy="628346"/>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LITERATURE REVIEW</a:t>
            </a:r>
            <a:br>
              <a:rPr lang="en-US" altLang="en-US" b="1" dirty="0">
                <a:latin typeface="Times New Roman" panose="02020603050405020304" pitchFamily="18" charset="0"/>
                <a:cs typeface="Times New Roman" panose="02020603050405020304" pitchFamily="18" charset="0"/>
              </a:rPr>
            </a:br>
            <a:br>
              <a:rPr lang="en-US" altLang="en-US"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3677078"/>
              </p:ext>
            </p:extLst>
          </p:nvPr>
        </p:nvGraphicFramePr>
        <p:xfrm>
          <a:off x="1432866" y="767165"/>
          <a:ext cx="10342367" cy="5779976"/>
        </p:xfrm>
        <a:graphic>
          <a:graphicData uri="http://schemas.openxmlformats.org/drawingml/2006/table">
            <a:tbl>
              <a:tblPr firstRow="1" bandRow="1">
                <a:tableStyleId>{5940675A-B579-460E-94D1-54222C63F5DA}</a:tableStyleId>
              </a:tblPr>
              <a:tblGrid>
                <a:gridCol w="563122">
                  <a:extLst>
                    <a:ext uri="{9D8B030D-6E8A-4147-A177-3AD203B41FA5}">
                      <a16:colId xmlns:a16="http://schemas.microsoft.com/office/drawing/2014/main" val="20000"/>
                    </a:ext>
                  </a:extLst>
                </a:gridCol>
                <a:gridCol w="2480478">
                  <a:extLst>
                    <a:ext uri="{9D8B030D-6E8A-4147-A177-3AD203B41FA5}">
                      <a16:colId xmlns:a16="http://schemas.microsoft.com/office/drawing/2014/main" val="20001"/>
                    </a:ext>
                  </a:extLst>
                </a:gridCol>
                <a:gridCol w="1814325">
                  <a:extLst>
                    <a:ext uri="{9D8B030D-6E8A-4147-A177-3AD203B41FA5}">
                      <a16:colId xmlns:a16="http://schemas.microsoft.com/office/drawing/2014/main" val="20002"/>
                    </a:ext>
                  </a:extLst>
                </a:gridCol>
                <a:gridCol w="3096182">
                  <a:extLst>
                    <a:ext uri="{9D8B030D-6E8A-4147-A177-3AD203B41FA5}">
                      <a16:colId xmlns:a16="http://schemas.microsoft.com/office/drawing/2014/main" val="20003"/>
                    </a:ext>
                  </a:extLst>
                </a:gridCol>
                <a:gridCol w="2388260">
                  <a:extLst>
                    <a:ext uri="{9D8B030D-6E8A-4147-A177-3AD203B41FA5}">
                      <a16:colId xmlns:a16="http://schemas.microsoft.com/office/drawing/2014/main" val="20004"/>
                    </a:ext>
                  </a:extLst>
                </a:gridCol>
              </a:tblGrid>
              <a:tr h="568746">
                <a:tc>
                  <a:txBody>
                    <a:bodyPr/>
                    <a:lstStyle/>
                    <a:p>
                      <a:pPr algn="ctr"/>
                      <a:r>
                        <a:rPr lang="en-US" sz="1600" b="1" dirty="0">
                          <a:latin typeface="Times New Roman" panose="02020603050405020304" pitchFamily="18" charset="0"/>
                          <a:cs typeface="Times New Roman" panose="02020603050405020304" pitchFamily="18" charset="0"/>
                        </a:rPr>
                        <a:t>S. No</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Journal Type </a:t>
                      </a:r>
                      <a:r>
                        <a:rPr lang="en-US" sz="1600" b="1" baseline="0" dirty="0">
                          <a:latin typeface="Times New Roman" panose="02020603050405020304" pitchFamily="18" charset="0"/>
                          <a:cs typeface="Times New Roman" panose="02020603050405020304" pitchFamily="18" charset="0"/>
                        </a:rPr>
                        <a:t>with year</a:t>
                      </a:r>
                      <a:endParaRPr 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Authors</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Title</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val="10000"/>
                  </a:ext>
                </a:extLst>
              </a:tr>
              <a:tr h="1269526">
                <a:tc>
                  <a:txBody>
                    <a:bodyPr/>
                    <a:lstStyle/>
                    <a:p>
                      <a:pPr algn="ctr"/>
                      <a:r>
                        <a:rPr lang="en-US" sz="1600" b="0" dirty="0">
                          <a:latin typeface="Times New Roman" panose="02020603050405020304" pitchFamily="18" charset="0"/>
                          <a:cs typeface="Times New Roman" panose="02020603050405020304" pitchFamily="18" charset="0"/>
                        </a:rPr>
                        <a:t>1</a:t>
                      </a:r>
                    </a:p>
                  </a:txBody>
                  <a:tcPr anchor="ctr"/>
                </a:tc>
                <a:tc>
                  <a:txBody>
                    <a:bodyPr/>
                    <a:lstStyle/>
                    <a:p>
                      <a:pPr algn="ctr"/>
                      <a:r>
                        <a:rPr lang="en-US" sz="1600" b="0" kern="1200" dirty="0">
                          <a:solidFill>
                            <a:schemeClr val="tx1"/>
                          </a:solidFill>
                          <a:effectLst/>
                          <a:latin typeface="Times New Roman" panose="02020603050405020304" pitchFamily="18" charset="0"/>
                          <a:ea typeface="+mn-ea"/>
                          <a:cs typeface="Times New Roman" panose="02020603050405020304" pitchFamily="18" charset="0"/>
                        </a:rPr>
                        <a:t>Journal of Hospital Medicine. 7, 294–298 (2012) https://doi.org/10.1002/jhm.955 PMID: 22009855</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it-IT" sz="1600" kern="1200" dirty="0">
                          <a:solidFill>
                            <a:schemeClr val="tx1"/>
                          </a:solidFill>
                          <a:effectLst/>
                          <a:latin typeface="Times New Roman" panose="02020603050405020304" pitchFamily="18" charset="0"/>
                          <a:ea typeface="+mn-ea"/>
                          <a:cs typeface="Times New Roman" panose="02020603050405020304" pitchFamily="18" charset="0"/>
                        </a:rPr>
                        <a:t>Monica Jhuria, Ashwini Kumar, Rushikesh Borse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Image Processing for Smart Farming: Detection of Disease and Fruit Grading</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Fruit disease detection</a:t>
                      </a:r>
                    </a:p>
                  </a:txBody>
                  <a:tcPr anchor="ctr"/>
                </a:tc>
                <a:extLst>
                  <a:ext uri="{0D108BD9-81ED-4DB2-BD59-A6C34878D82A}">
                    <a16:rowId xmlns:a16="http://schemas.microsoft.com/office/drawing/2014/main" val="10001"/>
                  </a:ext>
                </a:extLst>
              </a:tr>
              <a:tr h="1269526">
                <a:tc>
                  <a:txBody>
                    <a:bodyPr/>
                    <a:lstStyle/>
                    <a:p>
                      <a:pPr algn="ctr"/>
                      <a:r>
                        <a:rPr lang="en-US" sz="1600" b="0" dirty="0">
                          <a:latin typeface="Times New Roman" panose="02020603050405020304" pitchFamily="18" charset="0"/>
                          <a:cs typeface="Times New Roman" panose="02020603050405020304" pitchFamily="18" charset="0"/>
                        </a:rPr>
                        <a:t>2</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International Conference on Contemporary Computing and Information, 2014.</a:t>
                      </a:r>
                    </a:p>
                  </a:txBody>
                  <a:tcPr anchor="ctr"/>
                </a:tc>
                <a:tc>
                  <a:txBody>
                    <a:bodyPr/>
                    <a:lstStyle/>
                    <a:p>
                      <a:pPr algn="ct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Sudhir Rao Rupanagudi, Ranjani B.S., Prathik Nagaraj, Varsha G. Bhat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Cost Effective Tomato Maturity Grading System using Image Processing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Effective Tomato Maturity Grading System </a:t>
                      </a:r>
                      <a:endParaRPr lang="en-US" sz="16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1314015">
                <a:tc>
                  <a:txBody>
                    <a:bodyPr/>
                    <a:lstStyle/>
                    <a:p>
                      <a:pPr algn="ctr"/>
                      <a:r>
                        <a:rPr lang="en-US" sz="1600" b="0" dirty="0">
                          <a:latin typeface="Times New Roman" panose="02020603050405020304" pitchFamily="18" charset="0"/>
                          <a:cs typeface="Times New Roman" panose="02020603050405020304" pitchFamily="18" charset="0"/>
                        </a:rPr>
                        <a:t>3</a:t>
                      </a:r>
                    </a:p>
                  </a:txBody>
                  <a:tcPr anchor="ctr"/>
                </a:tc>
                <a:tc>
                  <a:txBody>
                    <a:bodyPr/>
                    <a:lstStyle/>
                    <a:p>
                      <a:pPr algn="just"/>
                      <a:r>
                        <a:rPr lang="fr-FR"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International Journal of Computer Science and Information Technologies, Vol. 6 (1), 2015, 92-94. </a:t>
                      </a:r>
                      <a:endPar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de-DE"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Manisha A. Bhange, Prof. H. A. Hingoliwala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A Review of Image Processing for Pomegranate Disease Detection</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Pomegranate Disease Detection Review</a:t>
                      </a:r>
                    </a:p>
                  </a:txBody>
                  <a:tcPr anchor="ctr"/>
                </a:tc>
                <a:extLst>
                  <a:ext uri="{0D108BD9-81ED-4DB2-BD59-A6C34878D82A}">
                    <a16:rowId xmlns:a16="http://schemas.microsoft.com/office/drawing/2014/main" val="10003"/>
                  </a:ext>
                </a:extLst>
              </a:tr>
              <a:tr h="1265561">
                <a:tc>
                  <a:txBody>
                    <a:bodyPr/>
                    <a:lstStyle/>
                    <a:p>
                      <a:pPr algn="ctr"/>
                      <a:r>
                        <a:rPr lang="en-US" sz="1600" b="0" dirty="0">
                          <a:latin typeface="Times New Roman" panose="02020603050405020304" pitchFamily="18" charset="0"/>
                          <a:cs typeface="Times New Roman" panose="02020603050405020304" pitchFamily="18" charset="0"/>
                        </a:rPr>
                        <a:t>4</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International Journal of Computer Applications (0975 – 8887), Volume 13– No.2, January 2011</a:t>
                      </a:r>
                    </a:p>
                  </a:txBody>
                  <a:tcPr anchor="ctr"/>
                </a:tc>
                <a:tc>
                  <a:txBody>
                    <a:bodyPr/>
                    <a:lstStyle/>
                    <a:p>
                      <a:pPr algn="ctr"/>
                      <a:r>
                        <a:rPr lang="en-US" sz="16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Hetal N. Patel, Dr. M. V. Joshi </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Fruit Detection using Improved Multiple Features based Algorithm</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Fruit Detection </a:t>
                      </a:r>
                    </a:p>
                  </a:txBody>
                  <a:tcPr anchor="ctr"/>
                </a:tc>
                <a:extLst>
                  <a:ext uri="{0D108BD9-81ED-4DB2-BD59-A6C34878D82A}">
                    <a16:rowId xmlns:a16="http://schemas.microsoft.com/office/drawing/2014/main" val="10004"/>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495128" y="111878"/>
            <a:ext cx="1541699" cy="529567"/>
          </a:xfrm>
          <a:prstGeom prst="rect">
            <a:avLst/>
          </a:prstGeom>
        </p:spPr>
      </p:pic>
    </p:spTree>
    <p:extLst>
      <p:ext uri="{BB962C8B-B14F-4D97-AF65-F5344CB8AC3E}">
        <p14:creationId xmlns:p14="http://schemas.microsoft.com/office/powerpoint/2010/main" val="2335677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7629" y="1822898"/>
            <a:ext cx="3436977" cy="555929"/>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EXISTING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58568" y="2784883"/>
            <a:ext cx="7904045" cy="2011969"/>
          </a:xfrm>
        </p:spPr>
        <p:txBody>
          <a:bodyPr>
            <a:noAutofit/>
          </a:bodyPr>
          <a:lstStyle/>
          <a:p>
            <a:pPr marL="0" indent="0" algn="just">
              <a:lnSpc>
                <a:spcPct val="160000"/>
              </a:lnSpc>
              <a:spcBef>
                <a:spcPts val="0"/>
              </a:spcBef>
              <a:buNone/>
            </a:pPr>
            <a:r>
              <a:rPr lang="en-US" dirty="0">
                <a:solidFill>
                  <a:schemeClr val="tx1"/>
                </a:solidFill>
                <a:latin typeface="Times New Roman" panose="02020603050405020304" pitchFamily="18" charset="0"/>
                <a:ea typeface="Calibri" panose="020F0502020204030204" pitchFamily="34" charset="0"/>
              </a:rPr>
              <a:t>This model emphasizes an existing method where the disease prediction is performed manually by farmers. It is very difficult for the farmers to manually identify many diseases accurately with their limited knowledge. This difficulty can be overcome by using deep learning techniques.</a:t>
            </a: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10466435" y="71867"/>
            <a:ext cx="1597689" cy="555929"/>
          </a:xfrm>
          <a:prstGeom prst="rect">
            <a:avLst/>
          </a:prstGeom>
        </p:spPr>
      </p:pic>
    </p:spTree>
    <p:extLst>
      <p:ext uri="{BB962C8B-B14F-4D97-AF65-F5344CB8AC3E}">
        <p14:creationId xmlns:p14="http://schemas.microsoft.com/office/powerpoint/2010/main" val="1988453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032355" y="1379094"/>
            <a:ext cx="3432746" cy="59960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800" b="1" dirty="0">
                <a:latin typeface="Times New Roman" panose="02020603050405020304" pitchFamily="18" charset="0"/>
                <a:cs typeface="Times New Roman" panose="02020603050405020304" pitchFamily="18" charset="0"/>
              </a:rPr>
              <a:t>DISADVANTAGES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638300" y="2299202"/>
            <a:ext cx="8915400" cy="2828082"/>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nSpc>
                <a:spcPct val="150000"/>
              </a:lnSpc>
              <a:buFont typeface="+mj-lt"/>
              <a:buAutoNum type="arabicPeriod"/>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More Expensive:</a:t>
            </a:r>
            <a:r>
              <a:rPr lang="en-US"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Costlier Implementation of Plant Disease Detection through Advanced Machine Learning and Deep Learning Techniques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Difficult to scale up: </a:t>
            </a:r>
            <a:r>
              <a:rPr lang="en-US"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Scaling up plant disease detection with ML and DL is challenging due to data, hardware, and model complexities, limiting widespread adoption.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Time consuming:</a:t>
            </a:r>
            <a:r>
              <a:rPr lang="en-US"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Efficient Plant Disease Detection with Machine and Deep Learning, Reducing Time Consumption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endParaRPr lang="en-US" sz="1800" dirty="0">
              <a:solidFill>
                <a:srgbClr val="000000"/>
              </a:solidFill>
              <a:effectLst/>
              <a:latin typeface="Times New Roman" panose="02020603050405020304" pitchFamily="18" charset="0"/>
              <a:ea typeface="Calibri" panose="020F0502020204030204"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868269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2F5E9-D371-48AC-9F12-9755D3AE1521}"/>
              </a:ext>
            </a:extLst>
          </p:cNvPr>
          <p:cNvSpPr>
            <a:spLocks noGrp="1"/>
          </p:cNvSpPr>
          <p:nvPr>
            <p:ph idx="1"/>
          </p:nvPr>
        </p:nvSpPr>
        <p:spPr>
          <a:xfrm>
            <a:off x="1638300" y="2327280"/>
            <a:ext cx="9539786" cy="3038227"/>
          </a:xfrm>
        </p:spPr>
        <p:txBody>
          <a:bodyPr>
            <a:noAutofit/>
          </a:bodyPr>
          <a:lstStyle/>
          <a:p>
            <a:pPr marL="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In our proposed method we are performing the prediction of the plant diseases. Here, we are proposing a method that which is detecting the disease of a tomato plant from their leaf images. Here the process is performed with the Support Vector Machine (SVM) algorithm of machine learning along with deep learning algorithms Convolutional Neural Network (CNN), MobileNet and ResNet, which is a one of the transfer learning method of CNN. Once after training the dataset with the algorithms, and the precautions are also provided for the classified plant. Block diagram of proposed method is shown below.</a:t>
            </a:r>
          </a:p>
        </p:txBody>
      </p:sp>
      <p:sp>
        <p:nvSpPr>
          <p:cNvPr id="4" name="Title 1">
            <a:extLst>
              <a:ext uri="{FF2B5EF4-FFF2-40B4-BE49-F238E27FC236}">
                <a16:creationId xmlns:a16="http://schemas.microsoft.com/office/drawing/2014/main" id="{691BA666-3D94-41B6-BDDB-B52A51EF2747}"/>
              </a:ext>
            </a:extLst>
          </p:cNvPr>
          <p:cNvSpPr>
            <a:spLocks noGrp="1"/>
          </p:cNvSpPr>
          <p:nvPr>
            <p:ph type="title"/>
          </p:nvPr>
        </p:nvSpPr>
        <p:spPr>
          <a:xfrm>
            <a:off x="4321539" y="1508365"/>
            <a:ext cx="3923051" cy="465455"/>
          </a:xfrm>
        </p:spPr>
        <p:txBody>
          <a:bodyPr>
            <a:noAutofit/>
          </a:bodyPr>
          <a:lstStyle/>
          <a:p>
            <a:pPr algn="ctr"/>
            <a:r>
              <a:rPr lang="en-US" sz="2400" b="1" dirty="0">
                <a:latin typeface="Times New Roman" panose="02020603050405020304" pitchFamily="18" charset="0"/>
                <a:cs typeface="Times New Roman" panose="02020603050405020304" pitchFamily="18" charset="0"/>
              </a:rPr>
              <a:t>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3506795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11881" y="1061857"/>
            <a:ext cx="2968237" cy="623777"/>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ADVANTAGES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346579" y="2021299"/>
            <a:ext cx="9498842" cy="3151067"/>
          </a:xfrm>
        </p:spPr>
        <p:txBody>
          <a:bodyPr>
            <a:noAutofit/>
          </a:bodyPr>
          <a:lstStyle/>
          <a:p>
            <a:pPr marL="0" indent="0" algn="just">
              <a:lnSpc>
                <a:spcPct val="150000"/>
              </a:lnSpc>
              <a:spcAft>
                <a:spcPts val="800"/>
              </a:spcAft>
              <a:buNone/>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Accurate classification</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Machine learning and deep learning algorithms ensure precise identification of plant diseases, improving diagnosis and treatment decisions</a:t>
            </a:r>
            <a:r>
              <a:rPr lang="en-IN" sz="1800" dirty="0">
                <a:solidFill>
                  <a:srgbClr val="374151"/>
                </a:solidFill>
                <a:effectLst/>
                <a:latin typeface="Segoe UI" panose="020B0502040204020203"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Less complexity:</a:t>
            </a:r>
            <a:r>
              <a:rPr lang="en-IN" sz="1800" dirty="0">
                <a:solidFill>
                  <a:srgbClr val="374151"/>
                </a:solidFill>
                <a:effectLst/>
                <a:latin typeface="Segoe UI" panose="020B0502040204020203" pitchFamily="34" charset="0"/>
                <a:ea typeface="Calibri" panose="020F0502020204030204" pitchFamily="34" charset="0"/>
                <a:cs typeface="Times New Roman" panose="02020603050405020304" pitchFamily="18" charset="0"/>
              </a:rPr>
              <a:t> </a:t>
            </a:r>
            <a:r>
              <a:rPr lang="en-IN"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Streamlined processes and automated detection reduce the need for manual intervention, making the system user-friendly and efficient.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High performance:</a:t>
            </a:r>
            <a:r>
              <a:rPr lang="en-IN" sz="1800" dirty="0">
                <a:solidFill>
                  <a:srgbClr val="374151"/>
                </a:solidFill>
                <a:effectLst/>
                <a:latin typeface="Segoe UI" panose="020B0502040204020203" pitchFamily="34" charset="0"/>
                <a:ea typeface="Calibri" panose="020F0502020204030204" pitchFamily="34" charset="0"/>
                <a:cs typeface="Times New Roman" panose="02020603050405020304" pitchFamily="18" charset="0"/>
              </a:rPr>
              <a:t> </a:t>
            </a:r>
            <a:r>
              <a:rPr lang="en-IN" sz="18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These algorithms offer fast and reliable results, enhancing plant disease management and crop yield optimization.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just">
              <a:lnSpc>
                <a:spcPct val="150000"/>
              </a:lnSpc>
              <a:spcBef>
                <a:spcPts val="0"/>
              </a:spcBef>
              <a:buNone/>
            </a:pPr>
            <a:endParaRPr lang="en-US" sz="1700" dirty="0">
              <a:solidFill>
                <a:schemeClr val="tx1"/>
              </a:solidFill>
              <a:latin typeface="Times New Roman" panose="02020603050405020304" pitchFamily="18" charset="0"/>
              <a:ea typeface="Calibri" panose="020F0502020204030204"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250226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1BA666-3D94-41B6-BDDB-B52A51EF2747}"/>
              </a:ext>
            </a:extLst>
          </p:cNvPr>
          <p:cNvSpPr>
            <a:spLocks noGrp="1"/>
          </p:cNvSpPr>
          <p:nvPr>
            <p:ph type="title"/>
          </p:nvPr>
        </p:nvSpPr>
        <p:spPr>
          <a:xfrm>
            <a:off x="1514752" y="282916"/>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Picture 1">
            <a:extLst>
              <a:ext uri="{FF2B5EF4-FFF2-40B4-BE49-F238E27FC236}">
                <a16:creationId xmlns:a16="http://schemas.microsoft.com/office/drawing/2014/main" id="{304242CF-0CD0-1906-EA4E-9FF4D47EE846}"/>
              </a:ext>
            </a:extLst>
          </p:cNvPr>
          <p:cNvPicPr>
            <a:picLocks noChangeAspect="1"/>
          </p:cNvPicPr>
          <p:nvPr/>
        </p:nvPicPr>
        <p:blipFill>
          <a:blip r:embed="rId3"/>
          <a:stretch>
            <a:fillRect/>
          </a:stretch>
        </p:blipFill>
        <p:spPr>
          <a:xfrm>
            <a:off x="2070632" y="878203"/>
            <a:ext cx="8050735" cy="5696881"/>
          </a:xfrm>
          <a:prstGeom prst="rect">
            <a:avLst/>
          </a:prstGeom>
        </p:spPr>
      </p:pic>
    </p:spTree>
    <p:extLst>
      <p:ext uri="{BB962C8B-B14F-4D97-AF65-F5344CB8AC3E}">
        <p14:creationId xmlns:p14="http://schemas.microsoft.com/office/powerpoint/2010/main" val="3111068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40156" y="449827"/>
            <a:ext cx="8911687" cy="895201"/>
          </a:xfrm>
        </p:spPr>
        <p:txBody>
          <a:bodyPr>
            <a:normAutofit/>
          </a:bodyPr>
          <a:lstStyle/>
          <a:p>
            <a:pPr algn="ctr"/>
            <a:r>
              <a:rPr lang="en-US" sz="2400" b="1" dirty="0">
                <a:latin typeface="Times New Roman" panose="02020603050405020304" pitchFamily="18" charset="0"/>
                <a:cs typeface="Times New Roman" panose="02020603050405020304" pitchFamily="18" charset="0"/>
              </a:rPr>
              <a:t>HARDWARE &amp; SOFTWARE REQUIREMENTS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887307" y="1704555"/>
            <a:ext cx="6417244" cy="1902721"/>
          </a:xfrm>
        </p:spPr>
        <p:txBody>
          <a:bodyPr>
            <a:normAutofit/>
          </a:bodyPr>
          <a:lstStyle/>
          <a:p>
            <a:pPr marL="0" indent="0" algn="just">
              <a:lnSpc>
                <a:spcPct val="150000"/>
              </a:lnSpc>
              <a:spcBef>
                <a:spcPts val="0"/>
              </a:spcBef>
              <a:buNone/>
            </a:pPr>
            <a:r>
              <a:rPr lang="en-US" sz="17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H/W CONFIGURATION:</a:t>
            </a:r>
          </a:p>
          <a:p>
            <a:pPr marL="0" indent="0" algn="just">
              <a:lnSpc>
                <a:spcPct val="150000"/>
              </a:lnSpc>
              <a:spcBef>
                <a:spcPts val="0"/>
              </a:spcBef>
              <a:buNone/>
            </a:pPr>
            <a:r>
              <a:rPr lang="en-US" sz="17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Processor    - I3/Intel Processor</a:t>
            </a:r>
          </a:p>
          <a:p>
            <a:pPr marL="0" indent="0" algn="just">
              <a:lnSpc>
                <a:spcPct val="150000"/>
              </a:lnSpc>
              <a:spcBef>
                <a:spcPts val="0"/>
              </a:spcBef>
              <a:buNone/>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Hard Disk   -160GB</a:t>
            </a:r>
          </a:p>
          <a:p>
            <a:pPr marL="0" indent="0" algn="just">
              <a:lnSpc>
                <a:spcPct val="150000"/>
              </a:lnSpc>
              <a:spcBef>
                <a:spcPts val="0"/>
              </a:spcBef>
              <a:buNone/>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RAM	   -  8Gb</a:t>
            </a:r>
          </a:p>
        </p:txBody>
      </p:sp>
      <p:sp>
        <p:nvSpPr>
          <p:cNvPr id="6" name="TextBox 5">
            <a:extLst>
              <a:ext uri="{FF2B5EF4-FFF2-40B4-BE49-F238E27FC236}">
                <a16:creationId xmlns:a16="http://schemas.microsoft.com/office/drawing/2014/main" id="{7C70DF6A-B090-4103-9F76-70F2E53A2FCD}"/>
              </a:ext>
            </a:extLst>
          </p:cNvPr>
          <p:cNvSpPr txBox="1"/>
          <p:nvPr/>
        </p:nvSpPr>
        <p:spPr>
          <a:xfrm>
            <a:off x="1782376" y="3966803"/>
            <a:ext cx="8015709" cy="2096984"/>
          </a:xfrm>
          <a:prstGeom prst="rect">
            <a:avLst/>
          </a:prstGeom>
          <a:noFill/>
        </p:spPr>
        <p:txBody>
          <a:bodyPr wrap="square">
            <a:spAutoFit/>
          </a:bodyPr>
          <a:lstStyle/>
          <a:p>
            <a:pPr algn="just">
              <a:lnSpc>
                <a:spcPct val="150000"/>
              </a:lnSpc>
            </a:pPr>
            <a:r>
              <a:rPr lang="en-US" sz="1700" b="1" dirty="0">
                <a:latin typeface="Times New Roman" panose="02020603050405020304" pitchFamily="18" charset="0"/>
                <a:ea typeface="Times New Roman" panose="02020603050405020304" pitchFamily="18" charset="0"/>
                <a:cs typeface="Times New Roman" panose="02020603050405020304" pitchFamily="18" charset="0"/>
              </a:rPr>
              <a:t>S/W CONFIGURATION:</a:t>
            </a:r>
          </a:p>
          <a:p>
            <a:pPr algn="just">
              <a:lnSpc>
                <a:spcPct val="150000"/>
              </a:lnSpc>
            </a:pPr>
            <a:r>
              <a:rPr lang="en-US" sz="1700"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Operating System       :   Windows 7/8/10	.	</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IDE		   :   Pycharm.</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Libraries Used            :    Numpy, IO, OS, Flask, keras. </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Technology                 :    Python 3.6+.</a:t>
            </a: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804524" y="0"/>
            <a:ext cx="1400175" cy="465455"/>
          </a:xfrm>
          <a:prstGeom prst="rect">
            <a:avLst/>
          </a:prstGeom>
        </p:spPr>
      </p:pic>
    </p:spTree>
    <p:extLst>
      <p:ext uri="{BB962C8B-B14F-4D97-AF65-F5344CB8AC3E}">
        <p14:creationId xmlns:p14="http://schemas.microsoft.com/office/powerpoint/2010/main" val="1593247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0542" y="346473"/>
            <a:ext cx="3254462" cy="611202"/>
          </a:xfrm>
        </p:spPr>
        <p:txBody>
          <a:bodyPr>
            <a:normAutofit/>
          </a:bodyPr>
          <a:lstStyle/>
          <a:p>
            <a:pPr algn="ctr"/>
            <a:r>
              <a:rPr lang="en-US" sz="2400" b="1" dirty="0">
                <a:latin typeface="Times New Roman" panose="02020603050405020304" pitchFamily="18" charset="0"/>
                <a:cs typeface="Times New Roman" panose="02020603050405020304" pitchFamily="18" charset="0"/>
              </a:rPr>
              <a:t>ARCHITECTURE</a:t>
            </a:r>
            <a:endParaRPr lang="en-IN" sz="24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pic>
        <p:nvPicPr>
          <p:cNvPr id="3" name="Picture 2">
            <a:extLst>
              <a:ext uri="{FF2B5EF4-FFF2-40B4-BE49-F238E27FC236}">
                <a16:creationId xmlns:a16="http://schemas.microsoft.com/office/drawing/2014/main" id="{8816161F-7F6C-BC9D-72DC-80E635D7C8B1}"/>
              </a:ext>
            </a:extLst>
          </p:cNvPr>
          <p:cNvPicPr>
            <a:picLocks noChangeAspect="1"/>
          </p:cNvPicPr>
          <p:nvPr/>
        </p:nvPicPr>
        <p:blipFill>
          <a:blip r:embed="rId3"/>
          <a:stretch>
            <a:fillRect/>
          </a:stretch>
        </p:blipFill>
        <p:spPr>
          <a:xfrm>
            <a:off x="3532877" y="739304"/>
            <a:ext cx="5476212" cy="5772223"/>
          </a:xfrm>
          <a:prstGeom prst="rect">
            <a:avLst/>
          </a:prstGeom>
        </p:spPr>
      </p:pic>
    </p:spTree>
    <p:extLst>
      <p:ext uri="{BB962C8B-B14F-4D97-AF65-F5344CB8AC3E}">
        <p14:creationId xmlns:p14="http://schemas.microsoft.com/office/powerpoint/2010/main" val="330624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55245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8334" y="1833349"/>
            <a:ext cx="8915400" cy="3777622"/>
          </a:xfrm>
        </p:spPr>
        <p:txBody>
          <a:bodyPr>
            <a:normAutofit/>
          </a:bodyPr>
          <a:lstStyle/>
          <a:p>
            <a:pPr algn="just">
              <a:lnSpc>
                <a:spcPct val="150000"/>
              </a:lnSpc>
            </a:pPr>
            <a:r>
              <a:rPr lang="en-IN" sz="1700" dirty="0">
                <a:solidFill>
                  <a:schemeClr val="tx1"/>
                </a:solidFill>
                <a:latin typeface="Times New Roman" panose="02020603050405020304" pitchFamily="18" charset="0"/>
                <a:cs typeface="Times New Roman" panose="02020603050405020304" pitchFamily="18" charset="0"/>
              </a:rPr>
              <a:t>Firstly, we have collected the dataset of the plant images which are effected with disease and normal.</a:t>
            </a:r>
          </a:p>
          <a:p>
            <a:pPr algn="just">
              <a:lnSpc>
                <a:spcPct val="150000"/>
              </a:lnSpc>
            </a:pPr>
            <a:r>
              <a:rPr lang="en-IN" sz="1700" dirty="0">
                <a:solidFill>
                  <a:schemeClr val="tx1"/>
                </a:solidFill>
                <a:latin typeface="Times New Roman" panose="02020603050405020304" pitchFamily="18" charset="0"/>
                <a:cs typeface="Times New Roman" panose="02020603050405020304" pitchFamily="18" charset="0"/>
              </a:rPr>
              <a:t>Necessary pre-processing steps will be completed with the dataset before training with our algorithm.</a:t>
            </a:r>
          </a:p>
          <a:p>
            <a:pPr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Once after training the model will be saved for testing and classifying.</a:t>
            </a:r>
            <a:endParaRPr lang="en-IN" sz="17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700" dirty="0">
                <a:solidFill>
                  <a:schemeClr val="tx1"/>
                </a:solidFill>
                <a:latin typeface="Times New Roman" panose="02020603050405020304" pitchFamily="18" charset="0"/>
                <a:cs typeface="Times New Roman" panose="02020603050405020304" pitchFamily="18" charset="0"/>
              </a:rPr>
              <a:t>User can upload the images of which to be classified and by using the saved model the images will be classified and predicted.</a:t>
            </a:r>
            <a:endParaRPr lang="en-IN" sz="17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3651666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5152" y="473985"/>
            <a:ext cx="8570343" cy="631484"/>
          </a:xfrm>
        </p:spPr>
        <p:txBody>
          <a:bodyPr>
            <a:normAutofit/>
          </a:bodyPr>
          <a:lstStyle/>
          <a:p>
            <a:pPr algn="ctr"/>
            <a:r>
              <a:rPr lang="en-US" sz="2400" b="1" dirty="0">
                <a:latin typeface="Times New Roman" panose="02020603050405020304" pitchFamily="18" charset="0"/>
                <a:cs typeface="Times New Roman" panose="02020603050405020304" pitchFamily="18" charset="0"/>
              </a:rPr>
              <a:t>MODULES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10186" y="1228300"/>
            <a:ext cx="10208524" cy="5117910"/>
          </a:xfrm>
        </p:spPr>
        <p:txBody>
          <a:bodyPr>
            <a:normAutofit fontScale="70000" lnSpcReduction="20000"/>
          </a:bodyPr>
          <a:lstStyle/>
          <a:p>
            <a:pPr marL="0" indent="0" algn="just">
              <a:lnSpc>
                <a:spcPct val="120000"/>
              </a:lnSpc>
              <a:buNone/>
            </a:pPr>
            <a:r>
              <a:rPr lang="en-US" sz="2700" b="1" dirty="0">
                <a:solidFill>
                  <a:schemeClr val="tx1"/>
                </a:solidFill>
                <a:latin typeface="Times New Roman" panose="02020603050405020304" pitchFamily="18" charset="0"/>
                <a:cs typeface="Times New Roman" panose="02020603050405020304" pitchFamily="18" charset="0"/>
              </a:rPr>
              <a:t>System</a:t>
            </a:r>
          </a:p>
          <a:p>
            <a:pPr marL="0" indent="0" algn="just">
              <a:lnSpc>
                <a:spcPct val="120000"/>
              </a:lnSpc>
              <a:buNone/>
            </a:pPr>
            <a:r>
              <a:rPr lang="en-US" sz="27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20000"/>
              </a:lnSpc>
              <a:buNone/>
            </a:pPr>
            <a:r>
              <a:rPr lang="en-US" sz="2700" b="1" dirty="0">
                <a:solidFill>
                  <a:schemeClr val="tx1"/>
                </a:solidFill>
                <a:latin typeface="Times New Roman" panose="02020603050405020304" pitchFamily="18" charset="0"/>
                <a:cs typeface="Times New Roman" panose="02020603050405020304" pitchFamily="18" charset="0"/>
              </a:rPr>
              <a:t>1. System:</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1.1 Create Dataset:</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The dataset containing images of the plant leaf images which are normal and effected with disease are split into training and testing dataset with the test size of 30-20%.</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1.2 Pre-processing:</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Resizing and reshaping the images into appropriate format to train our model. </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1.3 Training:</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Use the pre-processed training dataset is used to train our model using machine learning (SVM) and deep learning (CNN, MobileNet, ResNet) algorithms</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1.4 Classification:</a:t>
            </a:r>
          </a:p>
          <a:p>
            <a:pPr marL="0" indent="0" algn="just">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The results of our model is predicted output along with the accuracy comparison.</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558249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785" y="351156"/>
            <a:ext cx="8911687" cy="1280890"/>
          </a:xfrm>
        </p:spPr>
        <p:txBody>
          <a:bodyPr>
            <a:normAutofit/>
          </a:bodyPr>
          <a:lstStyle/>
          <a:p>
            <a:pPr algn="ctr"/>
            <a:r>
              <a:rPr lang="en-IN" sz="2400" b="1" dirty="0">
                <a:latin typeface="Times New Roman" panose="02020603050405020304" pitchFamily="18" charset="0"/>
                <a:cs typeface="Times New Roman" panose="02020603050405020304" pitchFamily="18" charset="0"/>
              </a:rPr>
              <a:t>MODULES</a:t>
            </a:r>
          </a:p>
        </p:txBody>
      </p:sp>
      <p:sp>
        <p:nvSpPr>
          <p:cNvPr id="3" name="Content Placeholder 2"/>
          <p:cNvSpPr>
            <a:spLocks noGrp="1"/>
          </p:cNvSpPr>
          <p:nvPr>
            <p:ph idx="1"/>
          </p:nvPr>
        </p:nvSpPr>
        <p:spPr>
          <a:xfrm>
            <a:off x="1501255" y="991600"/>
            <a:ext cx="9403306" cy="4344675"/>
          </a:xfrm>
        </p:spPr>
        <p:txBody>
          <a:bodyPr>
            <a:normAutofit/>
          </a:bodyPr>
          <a:lstStyle/>
          <a:p>
            <a:pPr marL="0" indent="0" algn="just">
              <a:lnSpc>
                <a:spcPct val="120000"/>
              </a:lnSpc>
              <a:buNone/>
            </a:pPr>
            <a:r>
              <a:rPr lang="en-US" sz="2400" b="1" dirty="0">
                <a:solidFill>
                  <a:schemeClr val="tx1"/>
                </a:solidFill>
                <a:latin typeface="Times New Roman" panose="02020603050405020304" pitchFamily="18" charset="0"/>
                <a:cs typeface="Times New Roman" panose="02020603050405020304" pitchFamily="18" charset="0"/>
              </a:rPr>
              <a:t>2. </a:t>
            </a:r>
            <a:r>
              <a:rPr lang="en-US" sz="22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2.1 View training accuracy</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User can check the trained algorithms accuracy</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2.2 Upload Image</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The user has to upload an image which needs to be classified.</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2.3 View Results and precautions</a:t>
            </a:r>
          </a:p>
          <a:p>
            <a:pPr marL="0" indent="0" algn="just">
              <a:lnSpc>
                <a:spcPct val="120000"/>
              </a:lnSpc>
              <a:buNone/>
            </a:pPr>
            <a:r>
              <a:rPr lang="en-US" sz="1700" dirty="0">
                <a:solidFill>
                  <a:schemeClr val="tx1"/>
                </a:solidFill>
                <a:latin typeface="Times New Roman" panose="02020603050405020304" pitchFamily="18" charset="0"/>
                <a:cs typeface="Times New Roman" panose="02020603050405020304" pitchFamily="18" charset="0"/>
              </a:rPr>
              <a:t>The classified image results are viewed by user along with precautions.</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1561057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9468" y="296563"/>
            <a:ext cx="8911687" cy="1280890"/>
          </a:xfrm>
        </p:spPr>
        <p:txBody>
          <a:bodyPr>
            <a:normAutofit/>
          </a:bodyPr>
          <a:lstStyle/>
          <a:p>
            <a:pPr algn="ctr"/>
            <a:r>
              <a:rPr lang="en-US" sz="2800" b="1" dirty="0">
                <a:latin typeface="Times New Roman" panose="02020603050405020304" pitchFamily="18" charset="0"/>
                <a:cs typeface="Times New Roman" panose="02020603050405020304" pitchFamily="18" charset="0"/>
              </a:rPr>
              <a:t>ALGORITHM</a:t>
            </a:r>
            <a:endParaRPr lang="en-IN" sz="2800" b="1"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
        <p:nvSpPr>
          <p:cNvPr id="10" name="TextBox 9">
            <a:extLst>
              <a:ext uri="{FF2B5EF4-FFF2-40B4-BE49-F238E27FC236}">
                <a16:creationId xmlns:a16="http://schemas.microsoft.com/office/drawing/2014/main" id="{36CB9E18-E0EF-2BCE-E858-FCDE9F2A66F3}"/>
              </a:ext>
            </a:extLst>
          </p:cNvPr>
          <p:cNvSpPr txBox="1"/>
          <p:nvPr/>
        </p:nvSpPr>
        <p:spPr>
          <a:xfrm>
            <a:off x="1319135" y="1796918"/>
            <a:ext cx="9472690" cy="3264163"/>
          </a:xfrm>
          <a:prstGeom prst="rect">
            <a:avLst/>
          </a:prstGeom>
          <a:noFill/>
        </p:spPr>
        <p:txBody>
          <a:bodyPr wrap="square">
            <a:spAutoFit/>
          </a:bodyPr>
          <a:lstStyle/>
          <a:p>
            <a:pPr algn="just">
              <a:lnSpc>
                <a:spcPct val="150000"/>
              </a:lnSpc>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Convolutional Neural Network(CNN)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Step1: convolutional operation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first building block in our plan of attack is convolution operation. In this step, we will touch on feature detectors, which basically serve as the neural network's filters. We will also discuss feature maps, learning the parameters of such maps, how patterns are detected, the layers of detection, and how the findings are mapped out.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1088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2866FA-33F9-4779-F0C6-3FF2633C045C}"/>
              </a:ext>
            </a:extLst>
          </p:cNvPr>
          <p:cNvPicPr>
            <a:picLocks noChangeAspect="1"/>
          </p:cNvPicPr>
          <p:nvPr/>
        </p:nvPicPr>
        <p:blipFill>
          <a:blip r:embed="rId2"/>
          <a:stretch>
            <a:fillRect/>
          </a:stretch>
        </p:blipFill>
        <p:spPr>
          <a:xfrm>
            <a:off x="783835" y="1790685"/>
            <a:ext cx="4867457" cy="3276629"/>
          </a:xfrm>
          <a:prstGeom prst="rect">
            <a:avLst/>
          </a:prstGeom>
        </p:spPr>
      </p:pic>
      <p:pic>
        <p:nvPicPr>
          <p:cNvPr id="5" name="Picture 4">
            <a:extLst>
              <a:ext uri="{FF2B5EF4-FFF2-40B4-BE49-F238E27FC236}">
                <a16:creationId xmlns:a16="http://schemas.microsoft.com/office/drawing/2014/main" id="{1E1FAD86-20FC-A36A-05A0-ED1BC995AF8E}"/>
              </a:ext>
            </a:extLst>
          </p:cNvPr>
          <p:cNvPicPr>
            <a:picLocks noChangeAspect="1"/>
          </p:cNvPicPr>
          <p:nvPr/>
        </p:nvPicPr>
        <p:blipFill>
          <a:blip r:embed="rId3"/>
          <a:stretch>
            <a:fillRect/>
          </a:stretch>
        </p:blipFill>
        <p:spPr>
          <a:xfrm>
            <a:off x="5981125" y="2074053"/>
            <a:ext cx="6042340" cy="2993261"/>
          </a:xfrm>
          <a:prstGeom prst="rect">
            <a:avLst/>
          </a:prstGeom>
        </p:spPr>
      </p:pic>
    </p:spTree>
    <p:extLst>
      <p:ext uri="{BB962C8B-B14F-4D97-AF65-F5344CB8AC3E}">
        <p14:creationId xmlns:p14="http://schemas.microsoft.com/office/powerpoint/2010/main" val="2431729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914754-E545-E554-7D53-F9603652C742}"/>
              </a:ext>
            </a:extLst>
          </p:cNvPr>
          <p:cNvSpPr txBox="1"/>
          <p:nvPr/>
        </p:nvSpPr>
        <p:spPr>
          <a:xfrm>
            <a:off x="1289152" y="1114707"/>
            <a:ext cx="9968459" cy="5449377"/>
          </a:xfrm>
          <a:prstGeom prst="rect">
            <a:avLst/>
          </a:prstGeom>
          <a:noFill/>
        </p:spPr>
        <p:txBody>
          <a:bodyPr wrap="square">
            <a:spAutoFit/>
          </a:bodyPr>
          <a:lstStyle/>
          <a:p>
            <a:pPr algn="just">
              <a:lnSpc>
                <a:spcPct val="150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utilization of Mobile Net algorithm in the detection of plant diseases through machine learning and deep learning is a groundbreaking approach. Mobile Net, known for its efficiency and lightweight architecture, proves to be instrumental in developing robust models for plant disease detection on mobile devices. By leveraging the power of convolutional neural networks (CNNs) within the Mobile Net framework, this technology enables real-time analysis of plant health through image processing. </a:t>
            </a:r>
            <a:br>
              <a:rPr lang="en-IN" sz="1800" dirty="0">
                <a:effectLst/>
                <a:latin typeface="Times New Roman" panose="02020603050405020304" pitchFamily="18" charset="0"/>
                <a:ea typeface="Calibri" panose="020F0502020204030204" pitchFamily="34" charset="0"/>
                <a:cs typeface="Times New Roman" panose="02020603050405020304" pitchFamily="18" charset="0"/>
              </a:rPr>
            </a:br>
            <a:br>
              <a:rPr lang="en-IN" sz="18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Mobile Net's capacity to efficiently handle computational tasks on resource-constrained platforms, such as smartphones, facilitates the deployment of portable and accessible plant disease detection solutions. The algorithm's ability to balance accuracy and computational efficiency is crucial in ensuring timely and accurate identification of diseases, empowering farmers and agricultural professionals to take swift corrective actions. Through the amalgamation of Mobile Net and advanced image recognition techniques, this research strives to enhance the efficacy and accessibility of plant disease detection, contributing to sustainable agriculture and food security.</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id="{33FC5F51-41D2-1374-30F0-C303ED229913}"/>
              </a:ext>
            </a:extLst>
          </p:cNvPr>
          <p:cNvSpPr txBox="1"/>
          <p:nvPr/>
        </p:nvSpPr>
        <p:spPr>
          <a:xfrm>
            <a:off x="5038566" y="505532"/>
            <a:ext cx="2469629" cy="461665"/>
          </a:xfrm>
          <a:prstGeom prst="rect">
            <a:avLst/>
          </a:prstGeom>
          <a:noFill/>
        </p:spPr>
        <p:txBody>
          <a:bodyPr wrap="square">
            <a:spAutoFit/>
          </a:bodyPr>
          <a:lstStyle/>
          <a:p>
            <a:r>
              <a:rPr lang="en-IN" sz="2400" b="1" dirty="0">
                <a:solidFill>
                  <a:schemeClr val="accent2">
                    <a:lumMod val="75000"/>
                  </a:schemeClr>
                </a:solidFill>
                <a:effectLst/>
                <a:latin typeface="Times New Roman" panose="02020603050405020304" pitchFamily="18" charset="0"/>
                <a:ea typeface="Calibri" panose="020F0502020204030204" pitchFamily="34" charset="0"/>
              </a:rPr>
              <a:t>MOBILE NET </a:t>
            </a:r>
            <a:endParaRPr lang="en-IN" sz="2400" dirty="0">
              <a:solidFill>
                <a:schemeClr val="accent2">
                  <a:lumMod val="75000"/>
                </a:schemeClr>
              </a:solidFill>
            </a:endParaRPr>
          </a:p>
        </p:txBody>
      </p:sp>
    </p:spTree>
    <p:extLst>
      <p:ext uri="{BB962C8B-B14F-4D97-AF65-F5344CB8AC3E}">
        <p14:creationId xmlns:p14="http://schemas.microsoft.com/office/powerpoint/2010/main" val="944382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3468" y="1340730"/>
            <a:ext cx="2796822" cy="593002"/>
          </a:xfrm>
        </p:spPr>
        <p:txBody>
          <a:bodyPr>
            <a:normAutofit/>
          </a:bodyPr>
          <a:lstStyle/>
          <a:p>
            <a:r>
              <a:rPr lang="en-US" sz="2400" b="1" dirty="0">
                <a:latin typeface="Times New Roman" panose="02020603050405020304" pitchFamily="18" charset="0"/>
                <a:cs typeface="Times New Roman" panose="02020603050405020304" pitchFamily="18" charset="0"/>
              </a:rPr>
              <a:t>UML DIAGRAMS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75843" y="2388881"/>
            <a:ext cx="8915400" cy="2392982"/>
          </a:xfrm>
        </p:spPr>
        <p:txBody>
          <a:bodyPr>
            <a:normAutofit fontScale="92500" lnSpcReduction="20000"/>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2104542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7" name="Picture 6">
            <a:extLst>
              <a:ext uri="{FF2B5EF4-FFF2-40B4-BE49-F238E27FC236}">
                <a16:creationId xmlns:a16="http://schemas.microsoft.com/office/drawing/2014/main" id="{DF066F8C-80F0-E878-FBAA-E54899376FEE}"/>
              </a:ext>
            </a:extLst>
          </p:cNvPr>
          <p:cNvPicPr>
            <a:picLocks noChangeAspect="1"/>
          </p:cNvPicPr>
          <p:nvPr/>
        </p:nvPicPr>
        <p:blipFill>
          <a:blip r:embed="rId3"/>
          <a:stretch>
            <a:fillRect/>
          </a:stretch>
        </p:blipFill>
        <p:spPr>
          <a:xfrm>
            <a:off x="3546264" y="544658"/>
            <a:ext cx="5099471" cy="5768684"/>
          </a:xfrm>
          <a:prstGeom prst="rect">
            <a:avLst/>
          </a:prstGeom>
        </p:spPr>
      </p:pic>
    </p:spTree>
    <p:extLst>
      <p:ext uri="{BB962C8B-B14F-4D97-AF65-F5344CB8AC3E}">
        <p14:creationId xmlns:p14="http://schemas.microsoft.com/office/powerpoint/2010/main" val="2354800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3822" y="1542313"/>
            <a:ext cx="3484356" cy="676231"/>
          </a:xfrm>
        </p:spPr>
        <p:txBody>
          <a:bodyPr>
            <a:normAutofit/>
          </a:bodyPr>
          <a:lstStyle/>
          <a:p>
            <a:r>
              <a:rPr lang="en-IN" sz="2400" b="1" dirty="0">
                <a:latin typeface="Times New Roman" panose="02020603050405020304" pitchFamily="18" charset="0"/>
                <a:cs typeface="Times New Roman" panose="02020603050405020304" pitchFamily="18" charset="0"/>
              </a:rPr>
              <a:t>CLASS DIAGRAM</a:t>
            </a:r>
          </a:p>
        </p:txBody>
      </p:sp>
      <p:sp>
        <p:nvSpPr>
          <p:cNvPr id="3" name="Content Placeholder 2"/>
          <p:cNvSpPr>
            <a:spLocks noGrp="1"/>
          </p:cNvSpPr>
          <p:nvPr>
            <p:ph idx="1"/>
          </p:nvPr>
        </p:nvSpPr>
        <p:spPr>
          <a:xfrm>
            <a:off x="1638300" y="2456671"/>
            <a:ext cx="8915400" cy="1770555"/>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p>
          <a:p>
            <a:pPr marL="0" indent="0">
              <a:buNone/>
            </a:pPr>
            <a:endParaRPr lang="en-IN"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201741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8CA388-71D2-21EA-05B8-9B3BD4BC5853}"/>
              </a:ext>
            </a:extLst>
          </p:cNvPr>
          <p:cNvPicPr>
            <a:picLocks noChangeAspect="1"/>
          </p:cNvPicPr>
          <p:nvPr/>
        </p:nvPicPr>
        <p:blipFill>
          <a:blip r:embed="rId2"/>
          <a:stretch>
            <a:fillRect/>
          </a:stretch>
        </p:blipFill>
        <p:spPr>
          <a:xfrm>
            <a:off x="1868774" y="780360"/>
            <a:ext cx="8454452" cy="5297280"/>
          </a:xfrm>
          <a:prstGeom prst="rect">
            <a:avLst/>
          </a:prstGeom>
        </p:spPr>
      </p:pic>
    </p:spTree>
    <p:extLst>
      <p:ext uri="{BB962C8B-B14F-4D97-AF65-F5344CB8AC3E}">
        <p14:creationId xmlns:p14="http://schemas.microsoft.com/office/powerpoint/2010/main" val="2368428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2747" y="1341141"/>
            <a:ext cx="3506505" cy="546466"/>
          </a:xfrm>
        </p:spPr>
        <p:txBody>
          <a:bodyPr>
            <a:normAutofit fontScale="90000"/>
          </a:bodyPr>
          <a:lstStyle/>
          <a:p>
            <a:r>
              <a:rPr lang="en-US" sz="2400" b="1" dirty="0">
                <a:latin typeface="Times New Roman" pitchFamily="18" charset="0"/>
                <a:cs typeface="Times New Roman" pitchFamily="18" charset="0"/>
              </a:rPr>
              <a:t>SEQUENCE DIAGRAM</a:t>
            </a:r>
            <a:br>
              <a:rPr lang="en-IN" sz="2400" dirty="0"/>
            </a:br>
            <a:endParaRPr lang="en-IN" sz="2400" dirty="0"/>
          </a:p>
        </p:txBody>
      </p:sp>
      <p:sp>
        <p:nvSpPr>
          <p:cNvPr id="3" name="Content Placeholder 2"/>
          <p:cNvSpPr>
            <a:spLocks noGrp="1"/>
          </p:cNvSpPr>
          <p:nvPr>
            <p:ph idx="1"/>
          </p:nvPr>
        </p:nvSpPr>
        <p:spPr>
          <a:xfrm>
            <a:off x="1775843" y="2215248"/>
            <a:ext cx="8915400" cy="247667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It is a construct of a Message Sequence Chart. Sequence diagrams are sometimes called event diagrams, event scenarios, and timing diagrams.</a:t>
            </a:r>
          </a:p>
          <a:p>
            <a:pPr marL="0" indent="0">
              <a:buNone/>
            </a:pPr>
            <a:endParaRPr lang="en-IN" sz="2000"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3791890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6" name="Graphic 1">
            <a:extLst>
              <a:ext uri="{FF2B5EF4-FFF2-40B4-BE49-F238E27FC236}">
                <a16:creationId xmlns:a16="http://schemas.microsoft.com/office/drawing/2014/main" id="{538A76F1-8653-0661-0E22-08824498D4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75977" y="183992"/>
            <a:ext cx="5040045" cy="6490015"/>
          </a:xfrm>
          <a:prstGeom prst="rect">
            <a:avLst/>
          </a:prstGeom>
        </p:spPr>
      </p:pic>
    </p:spTree>
    <p:extLst>
      <p:ext uri="{BB962C8B-B14F-4D97-AF65-F5344CB8AC3E}">
        <p14:creationId xmlns:p14="http://schemas.microsoft.com/office/powerpoint/2010/main" val="21268359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044" y="1607590"/>
            <a:ext cx="4745582" cy="558835"/>
          </a:xfrm>
        </p:spPr>
        <p:txBody>
          <a:bodyPr>
            <a:normAutofit/>
          </a:bodyPr>
          <a:lstStyle/>
          <a:p>
            <a:r>
              <a:rPr lang="en-US" sz="2400" b="1" dirty="0">
                <a:latin typeface="Times New Roman" pitchFamily="18" charset="0"/>
                <a:cs typeface="Times New Roman" pitchFamily="18" charset="0"/>
              </a:rPr>
              <a:t>COLLABORATION DIAGRAM</a:t>
            </a:r>
            <a:endParaRPr lang="en-IN" sz="2400" dirty="0"/>
          </a:p>
        </p:txBody>
      </p:sp>
      <p:sp>
        <p:nvSpPr>
          <p:cNvPr id="3" name="Content Placeholder 2"/>
          <p:cNvSpPr>
            <a:spLocks noGrp="1"/>
          </p:cNvSpPr>
          <p:nvPr>
            <p:ph idx="1"/>
          </p:nvPr>
        </p:nvSpPr>
        <p:spPr>
          <a:xfrm>
            <a:off x="1534135" y="2429022"/>
            <a:ext cx="8915400" cy="2466535"/>
          </a:xfrm>
        </p:spPr>
        <p:txBody>
          <a:bodyPr>
            <a:normAutofit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 as the collaboration diagram shows the object organization.</a:t>
            </a: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1062522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Picture 1">
            <a:extLst>
              <a:ext uri="{FF2B5EF4-FFF2-40B4-BE49-F238E27FC236}">
                <a16:creationId xmlns:a16="http://schemas.microsoft.com/office/drawing/2014/main" id="{BA4A4304-3C63-664A-9C93-8F20FCA45C3D}"/>
              </a:ext>
            </a:extLst>
          </p:cNvPr>
          <p:cNvPicPr>
            <a:picLocks noChangeAspect="1"/>
          </p:cNvPicPr>
          <p:nvPr/>
        </p:nvPicPr>
        <p:blipFill>
          <a:blip r:embed="rId3"/>
          <a:stretch>
            <a:fillRect/>
          </a:stretch>
        </p:blipFill>
        <p:spPr>
          <a:xfrm>
            <a:off x="1935029" y="1392182"/>
            <a:ext cx="8321942" cy="4073635"/>
          </a:xfrm>
          <a:prstGeom prst="rect">
            <a:avLst/>
          </a:prstGeom>
        </p:spPr>
      </p:pic>
    </p:spTree>
    <p:extLst>
      <p:ext uri="{BB962C8B-B14F-4D97-AF65-F5344CB8AC3E}">
        <p14:creationId xmlns:p14="http://schemas.microsoft.com/office/powerpoint/2010/main" val="39544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1632" y="814230"/>
            <a:ext cx="4130172" cy="465455"/>
          </a:xfrm>
        </p:spPr>
        <p:txBody>
          <a:bodyPr>
            <a:normAutofit/>
          </a:bodyPr>
          <a:lstStyle/>
          <a:p>
            <a:r>
              <a:rPr lang="en-US" sz="2400" b="1" dirty="0">
                <a:latin typeface="Times New Roman" pitchFamily="18" charset="0"/>
                <a:cs typeface="Times New Roman" pitchFamily="18" charset="0"/>
              </a:rPr>
              <a:t>DEPLOYMENT DIAGRAM</a:t>
            </a:r>
            <a:endParaRPr lang="en-IN" sz="2400" dirty="0"/>
          </a:p>
        </p:txBody>
      </p:sp>
      <p:sp>
        <p:nvSpPr>
          <p:cNvPr id="3" name="Content Placeholder 2"/>
          <p:cNvSpPr>
            <a:spLocks noGrp="1"/>
          </p:cNvSpPr>
          <p:nvPr>
            <p:ph idx="1"/>
          </p:nvPr>
        </p:nvSpPr>
        <p:spPr>
          <a:xfrm>
            <a:off x="1811290" y="1628633"/>
            <a:ext cx="8915400" cy="1800367"/>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 used to deploy the application.</a:t>
            </a:r>
          </a:p>
          <a:p>
            <a:pPr marL="0" indent="0">
              <a:buNone/>
            </a:pPr>
            <a:endParaRPr lang="en-IN"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6" name="Picture 5">
            <a:extLst>
              <a:ext uri="{FF2B5EF4-FFF2-40B4-BE49-F238E27FC236}">
                <a16:creationId xmlns:a16="http://schemas.microsoft.com/office/drawing/2014/main" id="{61A7E421-FC93-D903-9AEE-D673300D453F}"/>
              </a:ext>
            </a:extLst>
          </p:cNvPr>
          <p:cNvPicPr>
            <a:picLocks noChangeAspect="1"/>
          </p:cNvPicPr>
          <p:nvPr/>
        </p:nvPicPr>
        <p:blipFill>
          <a:blip r:embed="rId3"/>
          <a:stretch>
            <a:fillRect/>
          </a:stretch>
        </p:blipFill>
        <p:spPr>
          <a:xfrm>
            <a:off x="2881802" y="4052992"/>
            <a:ext cx="5502951" cy="2043953"/>
          </a:xfrm>
          <a:prstGeom prst="rect">
            <a:avLst/>
          </a:prstGeom>
        </p:spPr>
      </p:pic>
    </p:spTree>
    <p:extLst>
      <p:ext uri="{BB962C8B-B14F-4D97-AF65-F5344CB8AC3E}">
        <p14:creationId xmlns:p14="http://schemas.microsoft.com/office/powerpoint/2010/main" val="3817639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8916" y="1552998"/>
            <a:ext cx="3974168" cy="416480"/>
          </a:xfrm>
        </p:spPr>
        <p:txBody>
          <a:bodyPr>
            <a:noAutofit/>
          </a:bodyPr>
          <a:lstStyle/>
          <a:p>
            <a:r>
              <a:rPr lang="en-US" sz="2400" b="1" dirty="0">
                <a:latin typeface="Times New Roman" pitchFamily="18" charset="0"/>
                <a:cs typeface="Times New Roman" pitchFamily="18" charset="0"/>
              </a:rPr>
              <a:t>ACTIVITY DIAGRAM</a:t>
            </a:r>
            <a:endParaRPr lang="en-IN" sz="2400" dirty="0"/>
          </a:p>
        </p:txBody>
      </p:sp>
      <p:sp>
        <p:nvSpPr>
          <p:cNvPr id="3" name="Content Placeholder 2"/>
          <p:cNvSpPr>
            <a:spLocks noGrp="1"/>
          </p:cNvSpPr>
          <p:nvPr>
            <p:ph idx="1"/>
          </p:nvPr>
        </p:nvSpPr>
        <p:spPr>
          <a:xfrm>
            <a:off x="1890558" y="2432714"/>
            <a:ext cx="8410884" cy="2533935"/>
          </a:xfrm>
        </p:spPr>
        <p:txBody>
          <a:bodyPr>
            <a:normAutofit/>
          </a:bodyPr>
          <a:lstStyle/>
          <a:p>
            <a:pPr algn="just">
              <a:lnSpc>
                <a:spcPct val="150000"/>
              </a:lnSpc>
            </a:pPr>
            <a:r>
              <a:rPr lang="en-US" dirty="0">
                <a:latin typeface="Times New Roman" pitchFamily="18" charset="0"/>
                <a:cs typeface="Times New Roman" pitchFamily="18" charset="0"/>
              </a:rPr>
              <a:t>Activity diagrams are graphical representations of workflows of stepwise activities and actions with support for choice, iteration and concurrency. </a:t>
            </a:r>
          </a:p>
          <a:p>
            <a:pPr algn="just">
              <a:lnSpc>
                <a:spcPct val="150000"/>
              </a:lnSpc>
            </a:pPr>
            <a:r>
              <a:rPr lang="en-US" dirty="0">
                <a:latin typeface="Times New Roman" pitchFamily="18" charset="0"/>
                <a:cs typeface="Times New Roman" pitchFamily="18" charset="0"/>
              </a:rPr>
              <a:t>In the Unified Modeling Language, activity diagrams can be used to describe the business and operational step-by-step workflows of components in a system. </a:t>
            </a:r>
          </a:p>
          <a:p>
            <a:pPr algn="just">
              <a:lnSpc>
                <a:spcPct val="150000"/>
              </a:lnSpc>
            </a:pPr>
            <a:r>
              <a:rPr lang="en-US" dirty="0">
                <a:latin typeface="Times New Roman" pitchFamily="18" charset="0"/>
                <a:cs typeface="Times New Roman" pitchFamily="18" charset="0"/>
              </a:rPr>
              <a:t>An activity diagram shows the overall flow of control.</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1678157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Picture 1">
            <a:extLst>
              <a:ext uri="{FF2B5EF4-FFF2-40B4-BE49-F238E27FC236}">
                <a16:creationId xmlns:a16="http://schemas.microsoft.com/office/drawing/2014/main" id="{35D87FD9-A0D1-ABDE-81B5-9D64BCA1DFDF}"/>
              </a:ext>
            </a:extLst>
          </p:cNvPr>
          <p:cNvPicPr>
            <a:picLocks noChangeAspect="1"/>
          </p:cNvPicPr>
          <p:nvPr/>
        </p:nvPicPr>
        <p:blipFill>
          <a:blip r:embed="rId3"/>
          <a:stretch>
            <a:fillRect/>
          </a:stretch>
        </p:blipFill>
        <p:spPr>
          <a:xfrm>
            <a:off x="4372854" y="621516"/>
            <a:ext cx="3722680" cy="5891826"/>
          </a:xfrm>
          <a:prstGeom prst="rect">
            <a:avLst/>
          </a:prstGeom>
        </p:spPr>
      </p:pic>
    </p:spTree>
    <p:extLst>
      <p:ext uri="{BB962C8B-B14F-4D97-AF65-F5344CB8AC3E}">
        <p14:creationId xmlns:p14="http://schemas.microsoft.com/office/powerpoint/2010/main" val="16457679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D494E-66A3-2769-6802-632EBA3B814F}"/>
              </a:ext>
            </a:extLst>
          </p:cNvPr>
          <p:cNvSpPr>
            <a:spLocks noGrp="1"/>
          </p:cNvSpPr>
          <p:nvPr>
            <p:ph type="title"/>
          </p:nvPr>
        </p:nvSpPr>
        <p:spPr>
          <a:xfrm>
            <a:off x="3502856" y="1097281"/>
            <a:ext cx="5882749" cy="488450"/>
          </a:xfrm>
        </p:spPr>
        <p:txBody>
          <a:bodyPr>
            <a:normAutofit fontScale="90000"/>
          </a:bodyPr>
          <a:lstStyle/>
          <a:p>
            <a:r>
              <a:rPr lang="en-US" sz="2700" b="1" dirty="0">
                <a:latin typeface="Times New Roman" panose="02020603050405020304" pitchFamily="18" charset="0"/>
                <a:cs typeface="Times New Roman" panose="02020603050405020304" pitchFamily="18" charset="0"/>
              </a:rPr>
              <a:t>              STATE MACHINE DIAGRAM</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95760C-6B20-FEB3-3D86-83CE00763839}"/>
              </a:ext>
            </a:extLst>
          </p:cNvPr>
          <p:cNvPicPr>
            <a:picLocks noChangeAspect="1"/>
          </p:cNvPicPr>
          <p:nvPr/>
        </p:nvPicPr>
        <p:blipFill>
          <a:blip r:embed="rId2"/>
          <a:stretch>
            <a:fillRect/>
          </a:stretch>
        </p:blipFill>
        <p:spPr>
          <a:xfrm>
            <a:off x="1865679" y="2214514"/>
            <a:ext cx="9486686" cy="3089006"/>
          </a:xfrm>
          <a:prstGeom prst="rect">
            <a:avLst/>
          </a:prstGeom>
        </p:spPr>
      </p:pic>
    </p:spTree>
    <p:extLst>
      <p:ext uri="{BB962C8B-B14F-4D97-AF65-F5344CB8AC3E}">
        <p14:creationId xmlns:p14="http://schemas.microsoft.com/office/powerpoint/2010/main" val="163067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0185" y="835546"/>
            <a:ext cx="4171955" cy="500886"/>
          </a:xfrm>
        </p:spPr>
        <p:txBody>
          <a:bodyPr>
            <a:normAutofit/>
          </a:bodyPr>
          <a:lstStyle/>
          <a:p>
            <a:r>
              <a:rPr lang="en-US" sz="2400" b="1" dirty="0">
                <a:latin typeface="Times New Roman" pitchFamily="18" charset="0"/>
                <a:cs typeface="Times New Roman" pitchFamily="18" charset="0"/>
              </a:rPr>
              <a:t>COMPONENT DIAGRAM</a:t>
            </a:r>
            <a:endParaRPr lang="en-IN" sz="2400" dirty="0"/>
          </a:p>
        </p:txBody>
      </p:sp>
      <p:sp>
        <p:nvSpPr>
          <p:cNvPr id="3" name="Content Placeholder 2"/>
          <p:cNvSpPr>
            <a:spLocks noGrp="1"/>
          </p:cNvSpPr>
          <p:nvPr>
            <p:ph idx="1"/>
          </p:nvPr>
        </p:nvSpPr>
        <p:spPr>
          <a:xfrm>
            <a:off x="1734618" y="1768453"/>
            <a:ext cx="9352579" cy="2055002"/>
          </a:xfrm>
        </p:spPr>
        <p:txBody>
          <a:bodyPr/>
          <a:lstStyle/>
          <a:p>
            <a:pPr algn="just">
              <a:lnSpc>
                <a:spcPct val="150000"/>
              </a:lnSpc>
            </a:pPr>
            <a:r>
              <a:rPr lang="en-US" dirty="0">
                <a:latin typeface="Times New Roman" pitchFamily="18" charset="0"/>
                <a:cs typeface="Times New Roman" pitchFamily="18" charset="0"/>
              </a:rPr>
              <a:t>A component diagram, also known as a UML component diagram, describes the organization and wiring of the physical components in a system. </a:t>
            </a:r>
          </a:p>
          <a:p>
            <a:pPr algn="just">
              <a:lnSpc>
                <a:spcPct val="150000"/>
              </a:lnSpc>
            </a:pPr>
            <a:r>
              <a:rPr lang="en-US" dirty="0">
                <a:latin typeface="Times New Roman" pitchFamily="18" charset="0"/>
                <a:cs typeface="Times New Roman" pitchFamily="18" charset="0"/>
              </a:rPr>
              <a:t>Component diagrams are often drawn to help model implementation details and double-check that every aspect of the system's required functions is covered by planned development.</a:t>
            </a:r>
          </a:p>
          <a:p>
            <a:pPr marL="0" indent="0" algn="just">
              <a:lnSpc>
                <a:spcPct val="150000"/>
              </a:lnSpc>
              <a:buNone/>
            </a:pPr>
            <a:endParaRPr lang="en-US" dirty="0">
              <a:latin typeface="Times New Roman" pitchFamily="18" charset="0"/>
              <a:cs typeface="Times New Roman" pitchFamily="18" charset="0"/>
            </a:endParaRPr>
          </a:p>
          <a:p>
            <a:pPr marL="0" indent="0">
              <a:buNone/>
            </a:pPr>
            <a:endParaRPr lang="en-IN"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6" name="Picture 5">
            <a:extLst>
              <a:ext uri="{FF2B5EF4-FFF2-40B4-BE49-F238E27FC236}">
                <a16:creationId xmlns:a16="http://schemas.microsoft.com/office/drawing/2014/main" id="{90617738-BEC4-5560-E51E-8FED34AFC011}"/>
              </a:ext>
            </a:extLst>
          </p:cNvPr>
          <p:cNvPicPr>
            <a:picLocks noChangeAspect="1"/>
          </p:cNvPicPr>
          <p:nvPr/>
        </p:nvPicPr>
        <p:blipFill>
          <a:blip r:embed="rId3"/>
          <a:stretch>
            <a:fillRect/>
          </a:stretch>
        </p:blipFill>
        <p:spPr>
          <a:xfrm>
            <a:off x="2889505" y="4078912"/>
            <a:ext cx="6412990" cy="2055001"/>
          </a:xfrm>
          <a:prstGeom prst="rect">
            <a:avLst/>
          </a:prstGeom>
        </p:spPr>
      </p:pic>
    </p:spTree>
    <p:extLst>
      <p:ext uri="{BB962C8B-B14F-4D97-AF65-F5344CB8AC3E}">
        <p14:creationId xmlns:p14="http://schemas.microsoft.com/office/powerpoint/2010/main" val="915747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2586" y="1526343"/>
            <a:ext cx="2386828" cy="572064"/>
          </a:xfrm>
        </p:spPr>
        <p:txBody>
          <a:bodyPr>
            <a:normAutofit/>
          </a:bodyPr>
          <a:lstStyle/>
          <a:p>
            <a:r>
              <a:rPr lang="en-US" sz="2400" b="1" dirty="0">
                <a:latin typeface="Times New Roman" pitchFamily="18" charset="0"/>
                <a:cs typeface="Times New Roman" pitchFamily="18" charset="0"/>
              </a:rPr>
              <a:t>ER DIAGRAM</a:t>
            </a:r>
            <a:endParaRPr lang="en-IN" sz="2400" dirty="0"/>
          </a:p>
        </p:txBody>
      </p:sp>
      <p:sp>
        <p:nvSpPr>
          <p:cNvPr id="3" name="Content Placeholder 2"/>
          <p:cNvSpPr>
            <a:spLocks noGrp="1"/>
          </p:cNvSpPr>
          <p:nvPr>
            <p:ph idx="1"/>
          </p:nvPr>
        </p:nvSpPr>
        <p:spPr>
          <a:xfrm>
            <a:off x="1588375" y="2291077"/>
            <a:ext cx="9802955" cy="3040580"/>
          </a:xfrm>
        </p:spPr>
        <p:txBody>
          <a:bodyPr/>
          <a:lstStyle/>
          <a:p>
            <a:pPr algn="just">
              <a:lnSpc>
                <a:spcPct val="150000"/>
              </a:lnSpc>
            </a:pPr>
            <a:r>
              <a:rPr lang="en-IN" sz="1700" dirty="0">
                <a:latin typeface="Times New Roman" pitchFamily="18" charset="0"/>
                <a:cs typeface="Times New Roman" pitchFamily="18" charset="0"/>
              </a:rPr>
              <a:t>An Entity–relationship model (ER model) describes the structure of a database with the help of a diagram, which is known as Entity Relationship Diagram (ER Diagram). </a:t>
            </a:r>
          </a:p>
          <a:p>
            <a:pPr algn="just">
              <a:lnSpc>
                <a:spcPct val="150000"/>
              </a:lnSpc>
            </a:pPr>
            <a:r>
              <a:rPr lang="en-IN" sz="1700" dirty="0">
                <a:latin typeface="Times New Roman" pitchFamily="18" charset="0"/>
                <a:cs typeface="Times New Roman" pitchFamily="18" charset="0"/>
              </a:rPr>
              <a:t>An ER diagram shows the relationship among entity sets. An entity set is a group of similar entities and these entities can have attributes. </a:t>
            </a:r>
          </a:p>
          <a:p>
            <a:pPr algn="just">
              <a:lnSpc>
                <a:spcPct val="150000"/>
              </a:lnSpc>
            </a:pPr>
            <a:r>
              <a:rPr lang="en-IN" sz="1700" dirty="0">
                <a:latin typeface="Times New Roman" pitchFamily="18" charset="0"/>
                <a:cs typeface="Times New Roman" pitchFamily="18" charset="0"/>
              </a:rPr>
              <a:t>In terms of DBMS, an entity is a table or attribute of a table in database, so by showing relationship among tables and their attributes, ER diagram shows the complete logical structure of a database. </a:t>
            </a:r>
          </a:p>
          <a:p>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3365849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Picture 1">
            <a:extLst>
              <a:ext uri="{FF2B5EF4-FFF2-40B4-BE49-F238E27FC236}">
                <a16:creationId xmlns:a16="http://schemas.microsoft.com/office/drawing/2014/main" id="{31CF0F6B-78A8-B035-9BD0-4EA74927311E}"/>
              </a:ext>
            </a:extLst>
          </p:cNvPr>
          <p:cNvPicPr>
            <a:picLocks noChangeAspect="1"/>
          </p:cNvPicPr>
          <p:nvPr/>
        </p:nvPicPr>
        <p:blipFill>
          <a:blip r:embed="rId3"/>
          <a:stretch>
            <a:fillRect/>
          </a:stretch>
        </p:blipFill>
        <p:spPr>
          <a:xfrm>
            <a:off x="1786597" y="1682506"/>
            <a:ext cx="9031458" cy="3910363"/>
          </a:xfrm>
          <a:prstGeom prst="rect">
            <a:avLst/>
          </a:prstGeom>
        </p:spPr>
      </p:pic>
    </p:spTree>
    <p:extLst>
      <p:ext uri="{BB962C8B-B14F-4D97-AF65-F5344CB8AC3E}">
        <p14:creationId xmlns:p14="http://schemas.microsoft.com/office/powerpoint/2010/main" val="12439109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492" y="619131"/>
            <a:ext cx="2521083" cy="631484"/>
          </a:xfrm>
        </p:spPr>
        <p:txBody>
          <a:bodyPr>
            <a:normAutofit/>
          </a:bodyPr>
          <a:lstStyle/>
          <a:p>
            <a:r>
              <a:rPr lang="en-US" sz="2400" b="1" dirty="0">
                <a:latin typeface="Times New Roman" pitchFamily="18" charset="0"/>
                <a:cs typeface="Times New Roman" pitchFamily="18" charset="0"/>
              </a:rPr>
              <a:t>DFD DIAGRAM</a:t>
            </a:r>
            <a:endParaRPr lang="en-IN" sz="2400" dirty="0"/>
          </a:p>
        </p:txBody>
      </p:sp>
      <p:sp>
        <p:nvSpPr>
          <p:cNvPr id="3" name="Content Placeholder 2"/>
          <p:cNvSpPr>
            <a:spLocks noGrp="1"/>
          </p:cNvSpPr>
          <p:nvPr>
            <p:ph idx="1"/>
          </p:nvPr>
        </p:nvSpPr>
        <p:spPr>
          <a:xfrm>
            <a:off x="1167618" y="1696870"/>
            <a:ext cx="10119081" cy="4226257"/>
          </a:xfrm>
        </p:spPr>
        <p:txBody>
          <a:bodyPr>
            <a:normAutofit/>
          </a:bodyPr>
          <a:lstStyle/>
          <a:p>
            <a:pPr algn="just">
              <a:lnSpc>
                <a:spcPct val="150000"/>
              </a:lnSpc>
            </a:pPr>
            <a:r>
              <a:rPr lang="en-IN" dirty="0">
                <a:latin typeface="Times New Roman" pitchFamily="18" charset="0"/>
                <a:cs typeface="Times New Roman" pitchFamily="18" charset="0"/>
              </a:rPr>
              <a:t>A Data Flow Diagram (DFD) is a traditional way to visualize the information flows within a system.</a:t>
            </a:r>
          </a:p>
          <a:p>
            <a:pPr algn="just">
              <a:lnSpc>
                <a:spcPct val="150000"/>
              </a:lnSpc>
            </a:pPr>
            <a:r>
              <a:rPr lang="en-IN" dirty="0">
                <a:latin typeface="Times New Roman" pitchFamily="18" charset="0"/>
                <a:cs typeface="Times New Roman" pitchFamily="18" charset="0"/>
              </a:rPr>
              <a:t> A neat and clear DFD can depict a good amount of the system requirements graphically. It can be manual, automated, or a combination of both. </a:t>
            </a:r>
          </a:p>
          <a:p>
            <a:pPr algn="just">
              <a:lnSpc>
                <a:spcPct val="150000"/>
              </a:lnSpc>
            </a:pPr>
            <a:r>
              <a:rPr lang="en-IN" dirty="0">
                <a:latin typeface="Times New Roman" pitchFamily="18" charset="0"/>
                <a:cs typeface="Times New Roman" pitchFamily="18" charset="0"/>
              </a:rPr>
              <a:t>It shows how information enters and leaves the system, what changes the information and where information is stored. </a:t>
            </a:r>
          </a:p>
          <a:p>
            <a:pPr algn="just">
              <a:lnSpc>
                <a:spcPct val="150000"/>
              </a:lnSpc>
            </a:pPr>
            <a:r>
              <a:rPr lang="en-IN" dirty="0">
                <a:latin typeface="Times New Roman" pitchFamily="18" charset="0"/>
                <a:cs typeface="Times New Roman" pitchFamily="18" charset="0"/>
              </a:rPr>
              <a:t>The purpose of a DFD is to show the scope and boundaries of a system as a whole. </a:t>
            </a:r>
          </a:p>
          <a:p>
            <a:pPr algn="just">
              <a:lnSpc>
                <a:spcPct val="150000"/>
              </a:lnSpc>
            </a:pPr>
            <a:r>
              <a:rPr lang="en-IN" dirty="0">
                <a:latin typeface="Times New Roman" pitchFamily="18" charset="0"/>
                <a:cs typeface="Times New Roman" pitchFamily="18" charset="0"/>
              </a:rPr>
              <a:t>It may be used as a communications tool between a systems analyst and any person who plays a part in the system that acts as the starting point for redesigning a system.</a:t>
            </a:r>
          </a:p>
          <a:p>
            <a:pPr marL="0" indent="0">
              <a:buNone/>
            </a:pPr>
            <a:endParaRPr lang="en-IN"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spTree>
    <p:extLst>
      <p:ext uri="{BB962C8B-B14F-4D97-AF65-F5344CB8AC3E}">
        <p14:creationId xmlns:p14="http://schemas.microsoft.com/office/powerpoint/2010/main" val="6541803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CF64AE2-EA7D-CC22-25E0-874DE9EA5BE7}"/>
              </a:ext>
            </a:extLst>
          </p:cNvPr>
          <p:cNvPicPr>
            <a:picLocks noChangeAspect="1"/>
          </p:cNvPicPr>
          <p:nvPr/>
        </p:nvPicPr>
        <p:blipFill>
          <a:blip r:embed="rId2"/>
          <a:stretch>
            <a:fillRect/>
          </a:stretch>
        </p:blipFill>
        <p:spPr>
          <a:xfrm>
            <a:off x="2926081" y="1997612"/>
            <a:ext cx="5373858" cy="2630659"/>
          </a:xfrm>
          <a:prstGeom prst="rect">
            <a:avLst/>
          </a:prstGeom>
        </p:spPr>
      </p:pic>
    </p:spTree>
    <p:extLst>
      <p:ext uri="{BB962C8B-B14F-4D97-AF65-F5344CB8AC3E}">
        <p14:creationId xmlns:p14="http://schemas.microsoft.com/office/powerpoint/2010/main" val="2971860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Graphic 1">
            <a:extLst>
              <a:ext uri="{FF2B5EF4-FFF2-40B4-BE49-F238E27FC236}">
                <a16:creationId xmlns:a16="http://schemas.microsoft.com/office/drawing/2014/main" id="{7D60166C-2396-C593-D242-389AAB19D9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8960" y="304800"/>
            <a:ext cx="5733464" cy="6248400"/>
          </a:xfrm>
          <a:prstGeom prst="rect">
            <a:avLst/>
          </a:prstGeom>
        </p:spPr>
      </p:pic>
    </p:spTree>
    <p:extLst>
      <p:ext uri="{BB962C8B-B14F-4D97-AF65-F5344CB8AC3E}">
        <p14:creationId xmlns:p14="http://schemas.microsoft.com/office/powerpoint/2010/main" val="4012555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91243" y="20040"/>
            <a:ext cx="1400175" cy="465455"/>
          </a:xfrm>
          <a:prstGeom prst="rect">
            <a:avLst/>
          </a:prstGeom>
        </p:spPr>
      </p:pic>
      <p:pic>
        <p:nvPicPr>
          <p:cNvPr id="2" name="Graphic 1">
            <a:extLst>
              <a:ext uri="{FF2B5EF4-FFF2-40B4-BE49-F238E27FC236}">
                <a16:creationId xmlns:a16="http://schemas.microsoft.com/office/drawing/2014/main" id="{BB2A0ADA-20D6-7AA9-1DD6-7138748F44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26080" y="76200"/>
            <a:ext cx="5888208" cy="6705600"/>
          </a:xfrm>
          <a:prstGeom prst="rect">
            <a:avLst/>
          </a:prstGeom>
        </p:spPr>
      </p:pic>
    </p:spTree>
    <p:extLst>
      <p:ext uri="{BB962C8B-B14F-4D97-AF65-F5344CB8AC3E}">
        <p14:creationId xmlns:p14="http://schemas.microsoft.com/office/powerpoint/2010/main" val="25221067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74293" y="771158"/>
            <a:ext cx="3643414" cy="465455"/>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REFERENCES</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1F93E8D-E33A-435B-BB71-9CF853E3D270}"/>
              </a:ext>
            </a:extLst>
          </p:cNvPr>
          <p:cNvSpPr txBox="1"/>
          <p:nvPr/>
        </p:nvSpPr>
        <p:spPr>
          <a:xfrm>
            <a:off x="871748" y="1542315"/>
            <a:ext cx="10734099" cy="3970318"/>
          </a:xfrm>
          <a:prstGeom prst="rect">
            <a:avLst/>
          </a:prstGeom>
          <a:noFill/>
        </p:spPr>
        <p:txBody>
          <a:bodyPr wrap="square">
            <a:spAutoFit/>
          </a:bodyPr>
          <a:lstStyle/>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 Monica Jhuria, Ashwini Kumar, Rushikesh Borse “Image Processing for Smart Farming: Detection of Disease and Fruit Grading” Proceeding of the 2013 IEEE Second International Conference on Image Processing.</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 Sudhir Rao Rupanagudi, Ranjani B.S., Prathik Nagaraj, Varsha G. Bhat “A Cost Effective Tomato Maturity Grading System using Image Processing for 974 2015 International Conference on Green Computing and Internet of Things (ICGCIoT) Farmers” International Conference on Contemporary Computing and Information, 2014.</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[3] Shiv Ram Dubey, Anand Singh Jalal “Adapted Approach for Fruit Disease Identification using Images”.</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[4] Manisha A. Bhange, Prof. H. A. Hingoliwala “A Review of Image Processing for Pomegranate Disease Detection” International Journal of Computer Science and Information Technologies, Vol. 6 (1), 2015, 92-94. </a:t>
            </a:r>
          </a:p>
          <a:p>
            <a:pPr algn="just"/>
            <a:endPar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 Hetal N. Patel, Dr. M. V. Joshi “Fruit Detection using Improved Multiple Features based Algorithm” International Journal of Computer Applications (0975 – 8887), Volume 13– No.2, January 2011. </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74038282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6087</TotalTime>
  <Words>2941</Words>
  <Application>Microsoft Office PowerPoint</Application>
  <PresentationFormat>Widescreen</PresentationFormat>
  <Paragraphs>163</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Century Gothic</vt:lpstr>
      <vt:lpstr>Segoe UI</vt:lpstr>
      <vt:lpstr>Times New Roman</vt:lpstr>
      <vt:lpstr>Wingdings</vt:lpstr>
      <vt:lpstr>Wingdings 3</vt:lpstr>
      <vt:lpstr>Wisp</vt:lpstr>
      <vt:lpstr>PowerPoint Presentation</vt:lpstr>
      <vt:lpstr>PowerPoint Presentation</vt:lpstr>
      <vt:lpstr>ABSTRACT</vt:lpstr>
      <vt:lpstr>PowerPoint Presentation</vt:lpstr>
      <vt:lpstr>PowerPoint Presentation</vt:lpstr>
      <vt:lpstr>PowerPoint Presentation</vt:lpstr>
      <vt:lpstr>PowerPoint Presentation</vt:lpstr>
      <vt:lpstr>INTRODUCTION   </vt:lpstr>
      <vt:lpstr>INTRODUCTION   </vt:lpstr>
      <vt:lpstr>LITERATURE REVIEW  </vt:lpstr>
      <vt:lpstr>EXISTING METHOD </vt:lpstr>
      <vt:lpstr>PowerPoint Presentation</vt:lpstr>
      <vt:lpstr>PROPOSED METHOD </vt:lpstr>
      <vt:lpstr>ADVANTAGES </vt:lpstr>
      <vt:lpstr>PROPOSED METHOD </vt:lpstr>
      <vt:lpstr>HARDWARE &amp; SOFTWARE REQUIREMENTS </vt:lpstr>
      <vt:lpstr>ARCHITECTURE</vt:lpstr>
      <vt:lpstr>IMPLEMENTATION</vt:lpstr>
      <vt:lpstr>MODULES</vt:lpstr>
      <vt:lpstr>MODULES</vt:lpstr>
      <vt:lpstr>ALGORITHM</vt:lpstr>
      <vt:lpstr>PowerPoint Presentation</vt:lpstr>
      <vt:lpstr>PowerPoint Presentation</vt:lpstr>
      <vt:lpstr>UML DIAGRAMS</vt:lpstr>
      <vt:lpstr>PowerPoint Presentation</vt:lpstr>
      <vt:lpstr>CLASS DIAGRAM</vt:lpstr>
      <vt:lpstr>PowerPoint Presentation</vt:lpstr>
      <vt:lpstr>SEQUENCE DIAGRAM </vt:lpstr>
      <vt:lpstr>PowerPoint Presentation</vt:lpstr>
      <vt:lpstr>COLLABORATION DIAGRAM</vt:lpstr>
      <vt:lpstr>PowerPoint Presentation</vt:lpstr>
      <vt:lpstr>DEPLOYMENT DIAGRAM</vt:lpstr>
      <vt:lpstr>ACTIVITY DIAGRAM</vt:lpstr>
      <vt:lpstr>PowerPoint Presentation</vt:lpstr>
      <vt:lpstr>              STATE MACHINE DIAGRAM</vt:lpstr>
      <vt:lpstr>COMPONENT DIAGRAM</vt:lpstr>
      <vt:lpstr>ER DIAGRAM</vt:lpstr>
      <vt:lpstr>PowerPoint Presentation</vt:lpstr>
      <vt:lpstr>DFD DIAGRAM</vt:lpstr>
      <vt:lpstr>PowerPoint Presentation</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Keerthana</dc:creator>
  <cp:lastModifiedBy>Bhuvaneswari V</cp:lastModifiedBy>
  <cp:revision>321</cp:revision>
  <dcterms:created xsi:type="dcterms:W3CDTF">2020-06-29T09:16:21Z</dcterms:created>
  <dcterms:modified xsi:type="dcterms:W3CDTF">2024-02-03T10:02:27Z</dcterms:modified>
</cp:coreProperties>
</file>